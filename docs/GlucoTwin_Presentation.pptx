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ef15ec-97b1-e6c5-d18f-d632316bf591}">
          <p14:sldIdLst>
            <p14:sldId id="256"/>
          </p14:sldIdLst>
        </p14:section>
        <p14:section name="Problem" id="{9ae8d68b-7891-94ac-4608-495728e2a01a}">
          <p14:sldIdLst>
            <p14:sldId id="257"/>
          </p14:sldIdLst>
        </p14:section>
        <p14:section name="Solution" id="{6b534d22-0dd6-ba50-70a2-8219110897c3}">
          <p14:sldIdLst>
            <p14:sldId id="258"/>
            <p14:sldId id="259"/>
            <p14:sldId id="260"/>
            <p14:sldId id="261"/>
            <p14:sldId id="262"/>
          </p14:sldIdLst>
        </p14:section>
        <p14:section name="Results" id="{8460ba98-07d5-8487-addb-a2fe7cca406e}">
          <p14:sldIdLst>
            <p14:sldId id="263"/>
            <p14:sldId id="264"/>
          </p14:sldIdLst>
        </p14:section>
        <p14:section name="Prototype" id="{a072743e-0011-fb7c-5b49-5745986bd5fe}">
          <p14:sldIdLst>
            <p14:sldId id="265"/>
            <p14:sldId id="266"/>
          </p14:sldIdLst>
        </p14:section>
        <p14:section name="Impact" id="{c901443c-2f85-080b-9d06-0417d4e811eb}">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B37"/>
                </a:solidFill>
                <a:latin typeface="+mn-lt"/>
              </a:defRPr>
            </a:pPr>
            <a:r>
              <a:rPr sz="1300" b="0" i="0" u="none" strike="noStrike">
                <a:solidFill>
                  <a:srgbClr val="0B3B37"/>
                </a:solidFill>
                <a:latin typeface="+mn-lt"/>
              </a:rPr>
              <a:t>Glucose forecast error (RMSE, mg/dL) — lower is better</a:t>
            </a:r>
          </a:p>
        </c:rich>
      </c:tx>
      <c:layout/>
      <c:overlay val="0"/>
    </c:title>
    <c:autoTitleDeleted val="0"/>
    <c:plotArea>
      <c:layout/>
      <c:barChart>
        <c:barDir val="col"/>
        <c:grouping val="clustered"/>
        <c:varyColors val="0"/>
        <c:ser>
          <c:idx val="0"/>
          <c:order val="0"/>
          <c:tx>
            <c:strRef>
              <c:f>Sheet1!$B$1</c:f>
              <c:strCache>
                <c:ptCount val="1"/>
                <c:pt idx="0">
                  <c:v>GlucoTwin</c:v>
                </c:pt>
              </c:strCache>
            </c:strRef>
          </c:tx>
          <c:spPr>
            <a:solidFill>
              <a:srgbClr val="0F766E"/>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+30 min</c:v>
                  </c:pt>
                  <c:pt idx="1">
                    <c:v>+60 min</c:v>
                  </c:pt>
                  <c:pt idx="2">
                    <c:v>+90 min</c:v>
                  </c:pt>
                  <c:pt idx="3">
                    <c:v>+120 min</c:v>
                  </c:pt>
                </c:lvl>
              </c:multiLvlStrCache>
            </c:multiLvlStrRef>
          </c:cat>
          <c:val>
            <c:numRef>
              <c:f>Sheet1!$B$2:$B$5</c:f>
              <c:numCache>
                <c:formatCode>General</c:formatCode>
                <c:ptCount val="4"/>
                <c:pt idx="0">
                  <c:v>9.3</c:v>
                </c:pt>
                <c:pt idx="1">
                  <c:v>15.4</c:v>
                </c:pt>
                <c:pt idx="2">
                  <c:v>19.8</c:v>
                </c:pt>
                <c:pt idx="3">
                  <c:v>22.4</c:v>
                </c:pt>
              </c:numCache>
            </c:numRef>
          </c:val>
        </c:ser>
        <c:ser>
          <c:idx val="1"/>
          <c:order val="1"/>
          <c:tx>
            <c:strRef>
              <c:f>Sheet1!$C$1</c:f>
              <c:strCache>
                <c:ptCount val="1"/>
                <c:pt idx="0">
                  <c:v>"No change" baseline</c:v>
                </c:pt>
              </c:strCache>
            </c:strRef>
          </c:tx>
          <c:spPr>
            <a:solidFill>
              <a:srgbClr val="CBD5E1"/>
            </a:solidFill>
            <a:effectLst/>
          </c:spPr>
          <c:invertIfNegative val="0"/>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+30 min</c:v>
                  </c:pt>
                  <c:pt idx="1">
                    <c:v>+60 min</c:v>
                  </c:pt>
                  <c:pt idx="2">
                    <c:v>+90 min</c:v>
                  </c:pt>
                  <c:pt idx="3">
                    <c:v>+120 min</c:v>
                  </c:pt>
                </c:lvl>
              </c:multiLvlStrCache>
            </c:multiLvlStrRef>
          </c:cat>
          <c:val>
            <c:numRef>
              <c:f>Sheet1!$C$2:$C$5</c:f>
              <c:numCache>
                <c:formatCode>General</c:formatCode>
                <c:ptCount val="4"/>
                <c:pt idx="0">
                  <c:v>16.2</c:v>
                </c:pt>
                <c:pt idx="1">
                  <c:v>27.6</c:v>
                </c:pt>
                <c:pt idx="2">
                  <c:v>36.2</c:v>
                </c:pt>
                <c:pt idx="3">
                  <c:v>42.1</c:v>
                </c:pt>
              </c:numCache>
            </c:numRef>
          </c:val>
        </c:ser>
        <c:dLbls>
          <c:numFmt formatCode="#,##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B37"/>
                </a:solidFill>
                <a:latin typeface="+mn-lt"/>
              </a:defRPr>
            </a:pPr>
            <a:r>
              <a:rPr sz="1300" b="0" i="0" u="none" strike="noStrike">
                <a:solidFill>
                  <a:srgbClr val="0B3B37"/>
                </a:solidFill>
                <a:latin typeface="+mn-lt"/>
              </a:rPr>
              <a:t>Spike prediction AUPRC by inputs</a:t>
            </a:r>
          </a:p>
        </c:rich>
      </c:tx>
      <c:layout/>
      <c:overlay val="0"/>
    </c:title>
    <c:autoTitleDeleted val="0"/>
    <c:plotArea>
      <c:layout/>
      <c:barChart>
        <c:barDir val="bar"/>
        <c:grouping val="clustered"/>
        <c:varyColors val="0"/>
        <c:ser>
          <c:idx val="0"/>
          <c:order val="0"/>
          <c:tx>
            <c:strRef>
              <c:f>Sheet1!$B$1</c:f>
              <c:strCache>
                <c:ptCount val="1"/>
                <c:pt idx="0">
                  <c:v>AUPRC</c:v>
                </c:pt>
              </c:strCache>
            </c:strRef>
          </c:tx>
          <c:spPr>
            <a:solidFill>
              <a:srgbClr val="94A3B8"/>
            </a:solidFill>
            <a:effectLst/>
          </c:spPr>
          <c:invertIfNegative val="0"/>
          <c:dLbls>
            <c:numFmt formatCode="0.00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0F766E"/>
              </a:solidFill>
              <a:effectLst/>
            </c:spPr>
          </c:dPt>
          <c:cat>
            <c:multiLvlStrRef>
              <c:f>Sheet1!$A$2:$A$6</c:f>
              <c:multiLvlStrCache>
                <c:ptCount val="5"/>
                <c:lvl>
                  <c:pt idx="0">
                    <c:v>CGM only</c:v>
                  </c:pt>
                  <c:pt idx="1">
                    <c:v>CGM + wearables</c:v>
                  </c:pt>
                  <c:pt idx="2">
                    <c:v>CGM + EHR</c:v>
                  </c:pt>
                  <c:pt idx="3">
                    <c:v>EHR + wearables (no CGM)</c:v>
                  </c:pt>
                  <c:pt idx="4">
                    <c:v>Full fusion</c:v>
                  </c:pt>
                </c:lvl>
              </c:multiLvlStrCache>
            </c:multiLvlStrRef>
          </c:cat>
          <c:val>
            <c:numRef>
              <c:f>Sheet1!$B$2:$B$6</c:f>
              <c:numCache>
                <c:formatCode>General</c:formatCode>
                <c:ptCount val="5"/>
                <c:pt idx="0">
                  <c:v>0.901</c:v>
                </c:pt>
                <c:pt idx="1">
                  <c:v>0.902</c:v>
                </c:pt>
                <c:pt idx="2">
                  <c:v>0.905</c:v>
                </c:pt>
                <c:pt idx="3">
                  <c:v>0.89</c:v>
                </c:pt>
                <c:pt idx="4">
                  <c:v>0.912</c:v>
                </c:pt>
              </c:numCache>
            </c:numRef>
          </c:val>
        </c:ser>
        <c:dLbls>
          <c:numFmt formatCode="0.000"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0.93"/>
          <c:min val="0.85"/>
        </c:scaling>
        <c:delete val="0"/>
        <c:axPos val="b"/>
        <c:majorGridlines>
          <c:spPr>
            <a:ln w="6350" cap="flat">
              <a:solidFill>
                <a:srgbClr val="E2E8F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a virtual copy of each diabetic patient that warns the doctor two hours before a glucose spike and lets them test lifestyle changes on the twin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repeated post-meal spikes above 180 mg/dL matter: they damage eyes, kidneys, nerves and the heart over time, and they are invisible between clinic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two required data streams, the twin that fuses them, and what the doctor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sandbox rule: all data is synthetic. Show data/ehr_patients.json and the CSV in the repo during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replays sensor data on a clock so the twin never sees the future. Every tick it sends each patient's last 6 hours plus EHR to the ML service, and it pushes updates to the dashboard over Server-Sent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feature function is used in training and live serving, so there is no train/serve skew. The split is by patient: 48 train, 8 validation, 24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 twin, not just a classifier: it has personal physiology parameters that a doctor can read. Be honest that the median post-meal error barely changed (16.4 to 16.8 mg/dL) because many meals are not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84%, sensitivity 78% at the alert threshold. The forecast roughly halves the error of a 'glucose stays the same' baseline at every horizon. Note the false alarm rate and the 2-hour cooldown that limits alarm fatigue.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HbA1c, steps in the last hour and heart rate above resting are among the top features by gain, so the EHR and wearable streams carry real signal even when the AUPRC difference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video, show the live replay clock moving and a patient turning from LOW to HIGH just after lunch, with the alert toast appearing.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generic advice into personalised advice: for one patient a walk after lunch helps most, for another an earlier dinner.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Happiest Health's theme: proactive medicine. Mention how it fits telehealth programmes and hospital diabetes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value honesty: state clearly what the prototype does not prove yet and how we would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Have the dashboard open and ready for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548640" y="2651760"/>
            <a:ext cx="8046720" cy="1280160"/>
          </a:xfrm>
          <a:prstGeom prst="rect">
            <a:avLst/>
          </a:prstGeom>
          <a:noFill/>
          <a:ln/>
        </p:spPr>
        <p:txBody>
          <a:bodyPr wrap="square" rtlCol="0"/>
          <a:lstStyle>
            <a:lvl1pPr indent="0" marL="0">
              <a:buNone/>
              <a:defRPr lang="en-US" sz="1800" dirty="0">
                <a:solidFill>
                  <a:srgbClr val="CCFBF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800600"/>
            <a:ext cx="5486400" cy="228600"/>
          </a:xfrm>
          <a:prstGeom prst="rect">
            <a:avLst/>
          </a:prstGeom>
          <a:noFill/>
          <a:ln/>
        </p:spPr>
        <p:txBody>
          <a:bodyPr wrap="square" rtlCol="0" anchor="ctr"/>
          <a:lstStyle/>
          <a:p>
            <a:pPr indent="0" marL="0">
              <a:buNone/>
            </a:pPr>
            <a:r>
              <a:rPr lang="en-US" sz="1000" dirty="0">
                <a:solidFill>
                  <a:schemeClr val="accent6"/>
                </a:solidFill>
              </a:rPr>
              <a:t>GlucoTwin · Digital Twin Challenge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GlucoTwin</a:t>
            </a:r>
            <a:endParaRPr lang="en-US" sz="4400" dirty="0"/>
          </a:p>
        </p:txBody>
      </p:sp>
      <p:sp>
        <p:nvSpPr>
          <p:cNvPr id="3" name="Text 0"/>
          <p:cNvSpPr/>
          <p:nvPr>
            <p:ph idx="101" type="body" hasCustomPrompt="1"/>
          </p:nvPr>
        </p:nvSpPr>
        <p:spPr>
          <a:xfrm>
            <a:off x="548640" y="2651760"/>
            <a:ext cx="8046720" cy="1280160"/>
          </a:xfrm>
          <a:prstGeom prst="rect">
            <a:avLst/>
          </a:prstGeom>
          <a:noFill/>
          <a:ln/>
        </p:spPr>
        <p:txBody>
          <a:bodyPr wrap="square" rtlCol="0" anchor="t"/>
          <a:lstStyle/>
          <a:p>
            <a:pPr indent="0" marL="0">
              <a:buNone/>
            </a:pPr>
            <a:r>
              <a:rPr lang="en-US" sz="1800" dirty="0">
                <a:solidFill>
                  <a:srgbClr val="CCFBF1"/>
                </a:solidFill>
              </a:rPr>
              <a:t>A personalised Digital Twin for Type 2 Diabetes that predicts glucose spikes 2 hours before they happen</a:t>
            </a:r>
            <a:endParaRPr lang="en-US" sz="1800" dirty="0"/>
          </a:p>
          <a:p>
            <a:pPr indent="0" marL="0">
              <a:buNone/>
            </a:pPr>
            <a:r>
              <a:rPr lang="en-US" sz="1400" dirty="0">
                <a:solidFill>
                  <a:srgbClr val="99F6E4"/>
                </a:solidFill>
              </a:rPr>
              <a:t>Team Mavericks · NIT Silchar · Digital Twin Challenge 2026, Happiest Health</a:t>
            </a:r>
            <a:endParaRPr lang="en-US" sz="1800" dirty="0"/>
          </a:p>
        </p:txBody>
      </p:sp>
      <p:pic>
        <p:nvPicPr>
          <p:cNvPr id="4" name="logo" descr="preencoded.png">    </p:cNvPr>
          <p:cNvPicPr>
            <a:picLocks noChangeAspect="1"/>
          </p:cNvPicPr>
          <p:nvPr/>
        </p:nvPicPr>
        <p:blipFill>
          <a:blip r:embed="rId1"/>
          <a:stretch>
            <a:fillRect/>
          </a:stretch>
        </p:blipFill>
        <p:spPr>
          <a:xfrm>
            <a:off x="548640" y="54864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Diabetes care in India is reactive</a:t>
            </a:r>
            <a:endParaRPr lang="en-US" sz="3000" dirty="0"/>
          </a:p>
        </p:txBody>
      </p:sp>
      <p:sp>
        <p:nvSpPr>
          <p:cNvPr id="3" name="stat card"/>
          <p:cNvSpPr/>
          <p:nvPr/>
        </p:nvSpPr>
        <p:spPr>
          <a:xfrm>
            <a:off x="457200" y="1143000"/>
            <a:ext cx="3108960" cy="3383280"/>
          </a:xfrm>
          <a:prstGeom prst="roundRect">
            <a:avLst>
              <a:gd name="adj" fmla="val 3529"/>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stat"/>
          <p:cNvSpPr txBox="1"/>
          <p:nvPr/>
        </p:nvSpPr>
        <p:spPr>
          <a:xfrm>
            <a:off x="685800" y="1371600"/>
            <a:ext cx="2743200" cy="1005840"/>
          </a:xfrm>
          <a:prstGeom prst="rect">
            <a:avLst/>
          </a:prstGeom>
          <a:noFill/>
          <a:ln/>
        </p:spPr>
        <p:txBody>
          <a:bodyPr wrap="square" lIns="0" tIns="0" rIns="0" bIns="0" rtlCol="0" anchor="ctr"/>
          <a:lstStyle/>
          <a:p>
            <a:pPr indent="0" marL="0">
              <a:buNone/>
            </a:pPr>
            <a:r>
              <a:rPr lang="en-US" sz="6400" b="1" dirty="0">
                <a:solidFill>
                  <a:schemeClr val="accent1"/>
                </a:solidFill>
                <a:latin typeface="Cambria" pitchFamily="34" charset="0"/>
                <a:ea typeface="Cambria" pitchFamily="34" charset="-122"/>
                <a:cs typeface="Cambria" pitchFamily="34" charset="-120"/>
              </a:rPr>
              <a:t>101M</a:t>
            </a:r>
            <a:endParaRPr lang="en-US" sz="6400" dirty="0"/>
          </a:p>
        </p:txBody>
      </p:sp>
      <p:sp>
        <p:nvSpPr>
          <p:cNvPr id="5" name="stat label"/>
          <p:cNvSpPr txBox="1"/>
          <p:nvPr/>
        </p:nvSpPr>
        <p:spPr>
          <a:xfrm>
            <a:off x="685800" y="2423160"/>
            <a:ext cx="2697480" cy="822960"/>
          </a:xfrm>
          <a:prstGeom prst="rect">
            <a:avLst/>
          </a:prstGeom>
          <a:noFill/>
          <a:ln/>
        </p:spPr>
        <p:txBody>
          <a:bodyPr wrap="square" lIns="0" tIns="0" rIns="0" bIns="0" rtlCol="0" anchor="ctr"/>
          <a:lstStyle/>
          <a:p>
            <a:pPr indent="0" marL="0">
              <a:buNone/>
            </a:pPr>
            <a:r>
              <a:rPr lang="en-US" sz="1400" dirty="0">
                <a:solidFill>
                  <a:schemeClr val="tx1"/>
                </a:solidFill>
              </a:rPr>
              <a:t>people with diabetes in India (ICMR-INDIAB, Lancet Diabetes &amp; Endocrinology, 2023)</a:t>
            </a:r>
            <a:endParaRPr lang="en-US" sz="1400" dirty="0"/>
          </a:p>
        </p:txBody>
      </p:sp>
      <p:sp>
        <p:nvSpPr>
          <p:cNvPr id="6" name="stat note"/>
          <p:cNvSpPr txBox="1"/>
          <p:nvPr/>
        </p:nvSpPr>
        <p:spPr>
          <a:xfrm>
            <a:off x="685800" y="3383280"/>
            <a:ext cx="2697480" cy="548640"/>
          </a:xfrm>
          <a:prstGeom prst="rect">
            <a:avLst/>
          </a:prstGeom>
          <a:noFill/>
          <a:ln/>
        </p:spPr>
        <p:txBody>
          <a:bodyPr wrap="square" lIns="0" tIns="0" rIns="0" bIns="0" rtlCol="0" anchor="ctr"/>
          <a:lstStyle/>
          <a:p>
            <a:pPr indent="0" marL="0">
              <a:buNone/>
            </a:pPr>
            <a:r>
              <a:rPr lang="en-US" sz="1400" i="1" dirty="0">
                <a:solidFill>
                  <a:schemeClr val="accent6"/>
                </a:solidFill>
              </a:rPr>
              <a:t>Most of them have Type 2 Diabetes</a:t>
            </a:r>
            <a:endParaRPr lang="en-US" sz="1400" dirty="0"/>
          </a:p>
        </p:txBody>
      </p:sp>
      <p:sp>
        <p:nvSpPr>
          <p:cNvPr id="7" name="problem 0 circle"/>
          <p:cNvSpPr/>
          <p:nvPr/>
        </p:nvSpPr>
        <p:spPr>
          <a:xfrm>
            <a:off x="3931920" y="1188720"/>
            <a:ext cx="640080" cy="640080"/>
          </a:xfrm>
          <a:prstGeom prst="ellipse">
            <a:avLst/>
          </a:prstGeom>
          <a:solidFill>
            <a:srgbClr val="0F766E"/>
          </a:solidFill>
          <a:ln w="12700">
            <a:solidFill>
              <a:srgbClr val="0F766E"/>
            </a:solidFill>
            <a:prstDash val="solid"/>
          </a:ln>
        </p:spPr>
      </p:sp>
      <p:pic>
        <p:nvPicPr>
          <p:cNvPr id="8" name="problem 0 icon" descr="preencoded.png">    </p:cNvPr>
          <p:cNvPicPr>
            <a:picLocks noChangeAspect="1"/>
          </p:cNvPicPr>
          <p:nvPr/>
        </p:nvPicPr>
        <p:blipFill>
          <a:blip r:embed="rId1"/>
          <a:stretch>
            <a:fillRect/>
          </a:stretch>
        </p:blipFill>
        <p:spPr>
          <a:xfrm>
            <a:off x="4085539" y="1342339"/>
            <a:ext cx="332842" cy="332842"/>
          </a:xfrm>
          <a:prstGeom prst="rect">
            <a:avLst/>
          </a:prstGeom>
        </p:spPr>
      </p:pic>
      <p:sp>
        <p:nvSpPr>
          <p:cNvPr id="9" name="problem head 0"/>
          <p:cNvSpPr txBox="1"/>
          <p:nvPr/>
        </p:nvSpPr>
        <p:spPr>
          <a:xfrm>
            <a:off x="4754880" y="1170432"/>
            <a:ext cx="3931920" cy="320040"/>
          </a:xfrm>
          <a:prstGeom prst="rect">
            <a:avLst/>
          </a:prstGeom>
          <a:noFill/>
          <a:ln/>
        </p:spPr>
        <p:txBody>
          <a:bodyPr wrap="square" lIns="0" tIns="0" rIns="0" bIns="0" rtlCol="0" anchor="ctr"/>
          <a:lstStyle/>
          <a:p>
            <a:pPr indent="0" marL="0">
              <a:buNone/>
            </a:pPr>
            <a:r>
              <a:rPr lang="en-US" sz="1600" b="1" dirty="0">
                <a:solidFill>
                  <a:schemeClr val="tx2"/>
                </a:solidFill>
              </a:rPr>
              <a:t>A check-up every 3 months</a:t>
            </a:r>
            <a:endParaRPr lang="en-US" sz="1600" dirty="0"/>
          </a:p>
        </p:txBody>
      </p:sp>
      <p:sp>
        <p:nvSpPr>
          <p:cNvPr id="10" name="problem body 0"/>
          <p:cNvSpPr txBox="1"/>
          <p:nvPr/>
        </p:nvSpPr>
        <p:spPr>
          <a:xfrm>
            <a:off x="4754880" y="1508760"/>
            <a:ext cx="3931920" cy="502920"/>
          </a:xfrm>
          <a:prstGeom prst="rect">
            <a:avLst/>
          </a:prstGeom>
          <a:noFill/>
          <a:ln/>
        </p:spPr>
        <p:txBody>
          <a:bodyPr wrap="square" lIns="0" tIns="0" rIns="0" bIns="0" rtlCol="0" anchor="ctr"/>
          <a:lstStyle/>
          <a:p>
            <a:pPr indent="0" marL="0">
              <a:buNone/>
            </a:pPr>
            <a:r>
              <a:rPr lang="en-US" sz="1400" dirty="0">
                <a:solidFill>
                  <a:schemeClr val="tx1"/>
                </a:solidFill>
              </a:rPr>
              <a:t>HbA1c shows the average, not the daily spikes after meals</a:t>
            </a:r>
            <a:endParaRPr lang="en-US" sz="1400" dirty="0"/>
          </a:p>
        </p:txBody>
      </p:sp>
      <p:sp>
        <p:nvSpPr>
          <p:cNvPr id="11" name="problem 1 circle"/>
          <p:cNvSpPr/>
          <p:nvPr/>
        </p:nvSpPr>
        <p:spPr>
          <a:xfrm>
            <a:off x="3931920" y="2286000"/>
            <a:ext cx="640080" cy="640080"/>
          </a:xfrm>
          <a:prstGeom prst="ellipse">
            <a:avLst/>
          </a:prstGeom>
          <a:solidFill>
            <a:srgbClr val="0F766E"/>
          </a:solidFill>
          <a:ln w="12700">
            <a:solidFill>
              <a:srgbClr val="0F766E"/>
            </a:solidFill>
            <a:prstDash val="solid"/>
          </a:ln>
        </p:spPr>
      </p:sp>
      <p:pic>
        <p:nvPicPr>
          <p:cNvPr id="12" name="problem 1 icon" descr="preencoded.png">    </p:cNvPr>
          <p:cNvPicPr>
            <a:picLocks noChangeAspect="1"/>
          </p:cNvPicPr>
          <p:nvPr/>
        </p:nvPicPr>
        <p:blipFill>
          <a:blip r:embed="rId2"/>
          <a:stretch>
            <a:fillRect/>
          </a:stretch>
        </p:blipFill>
        <p:spPr>
          <a:xfrm>
            <a:off x="4085539" y="2439619"/>
            <a:ext cx="332842" cy="332842"/>
          </a:xfrm>
          <a:prstGeom prst="rect">
            <a:avLst/>
          </a:prstGeom>
        </p:spPr>
      </p:pic>
      <p:sp>
        <p:nvSpPr>
          <p:cNvPr id="13" name="problem head 1"/>
          <p:cNvSpPr txBox="1"/>
          <p:nvPr/>
        </p:nvSpPr>
        <p:spPr>
          <a:xfrm>
            <a:off x="4754880" y="2267712"/>
            <a:ext cx="3931920" cy="320040"/>
          </a:xfrm>
          <a:prstGeom prst="rect">
            <a:avLst/>
          </a:prstGeom>
          <a:noFill/>
          <a:ln/>
        </p:spPr>
        <p:txBody>
          <a:bodyPr wrap="square" lIns="0" tIns="0" rIns="0" bIns="0" rtlCol="0" anchor="ctr"/>
          <a:lstStyle/>
          <a:p>
            <a:pPr indent="0" marL="0">
              <a:buNone/>
            </a:pPr>
            <a:r>
              <a:rPr lang="en-US" sz="1600" b="1" dirty="0">
                <a:solidFill>
                  <a:schemeClr val="tx2"/>
                </a:solidFill>
              </a:rPr>
              <a:t>Indian lifestyle drives spikes</a:t>
            </a:r>
            <a:endParaRPr lang="en-US" sz="1600" dirty="0"/>
          </a:p>
        </p:txBody>
      </p:sp>
      <p:sp>
        <p:nvSpPr>
          <p:cNvPr id="14" name="problem body 1"/>
          <p:cNvSpPr txBox="1"/>
          <p:nvPr/>
        </p:nvSpPr>
        <p:spPr>
          <a:xfrm>
            <a:off x="4754880" y="2606040"/>
            <a:ext cx="3931920" cy="502920"/>
          </a:xfrm>
          <a:prstGeom prst="rect">
            <a:avLst/>
          </a:prstGeom>
          <a:noFill/>
          <a:ln/>
        </p:spPr>
        <p:txBody>
          <a:bodyPr wrap="square" lIns="0" tIns="0" rIns="0" bIns="0" rtlCol="0" anchor="ctr"/>
          <a:lstStyle/>
          <a:p>
            <a:pPr indent="0" marL="0">
              <a:buNone/>
            </a:pPr>
            <a:r>
              <a:rPr lang="en-US" sz="1400" dirty="0">
                <a:solidFill>
                  <a:schemeClr val="tx1"/>
                </a:solidFill>
              </a:rPr>
              <a:t>Rice/roti-heavy meals, late dinners, short sleep, low activity</a:t>
            </a:r>
            <a:endParaRPr lang="en-US" sz="1400" dirty="0"/>
          </a:p>
        </p:txBody>
      </p:sp>
      <p:sp>
        <p:nvSpPr>
          <p:cNvPr id="15" name="problem 2 circle"/>
          <p:cNvSpPr/>
          <p:nvPr/>
        </p:nvSpPr>
        <p:spPr>
          <a:xfrm>
            <a:off x="3931920" y="3383280"/>
            <a:ext cx="640080" cy="640080"/>
          </a:xfrm>
          <a:prstGeom prst="ellipse">
            <a:avLst/>
          </a:prstGeom>
          <a:solidFill>
            <a:srgbClr val="0F766E"/>
          </a:solidFill>
          <a:ln w="12700">
            <a:solidFill>
              <a:srgbClr val="0F766E"/>
            </a:solidFill>
            <a:prstDash val="solid"/>
          </a:ln>
        </p:spPr>
      </p:sp>
      <p:pic>
        <p:nvPicPr>
          <p:cNvPr id="16" name="problem 2 icon" descr="preencoded.png">    </p:cNvPr>
          <p:cNvPicPr>
            <a:picLocks noChangeAspect="1"/>
          </p:cNvPicPr>
          <p:nvPr/>
        </p:nvPicPr>
        <p:blipFill>
          <a:blip r:embed="rId3"/>
          <a:stretch>
            <a:fillRect/>
          </a:stretch>
        </p:blipFill>
        <p:spPr>
          <a:xfrm>
            <a:off x="4085539" y="3536899"/>
            <a:ext cx="332842" cy="332842"/>
          </a:xfrm>
          <a:prstGeom prst="rect">
            <a:avLst/>
          </a:prstGeom>
        </p:spPr>
      </p:pic>
      <p:sp>
        <p:nvSpPr>
          <p:cNvPr id="17" name="problem head 2"/>
          <p:cNvSpPr txBox="1"/>
          <p:nvPr/>
        </p:nvSpPr>
        <p:spPr>
          <a:xfrm>
            <a:off x="4754880" y="3364992"/>
            <a:ext cx="3931920" cy="320040"/>
          </a:xfrm>
          <a:prstGeom prst="rect">
            <a:avLst/>
          </a:prstGeom>
          <a:noFill/>
          <a:ln/>
        </p:spPr>
        <p:txBody>
          <a:bodyPr wrap="square" lIns="0" tIns="0" rIns="0" bIns="0" rtlCol="0" anchor="ctr"/>
          <a:lstStyle/>
          <a:p>
            <a:pPr indent="0" marL="0">
              <a:buNone/>
            </a:pPr>
            <a:r>
              <a:rPr lang="en-US" sz="1600" b="1" dirty="0">
                <a:solidFill>
                  <a:schemeClr val="tx2"/>
                </a:solidFill>
              </a:rPr>
              <a:t>Data overload</a:t>
            </a:r>
            <a:endParaRPr lang="en-US" sz="1600" dirty="0"/>
          </a:p>
        </p:txBody>
      </p:sp>
      <p:sp>
        <p:nvSpPr>
          <p:cNvPr id="18" name="problem body 2"/>
          <p:cNvSpPr txBox="1"/>
          <p:nvPr/>
        </p:nvSpPr>
        <p:spPr>
          <a:xfrm>
            <a:off x="4754880" y="3703320"/>
            <a:ext cx="3931920" cy="502920"/>
          </a:xfrm>
          <a:prstGeom prst="rect">
            <a:avLst/>
          </a:prstGeom>
          <a:noFill/>
          <a:ln/>
        </p:spPr>
        <p:txBody>
          <a:bodyPr wrap="square" lIns="0" tIns="0" rIns="0" bIns="0" rtlCol="0" anchor="ctr"/>
          <a:lstStyle/>
          <a:p>
            <a:pPr indent="0" marL="0">
              <a:buNone/>
            </a:pPr>
            <a:r>
              <a:rPr lang="en-US" sz="1400" dirty="0">
                <a:solidFill>
                  <a:schemeClr val="tx1"/>
                </a:solidFill>
              </a:rPr>
              <a:t>A CGM produces 288 readings a day — no doctor can read them for 500 patients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Our idea: a living virtual copy of each patient</a:t>
            </a:r>
            <a:endParaRPr lang="en-US" sz="3000" dirty="0"/>
          </a:p>
        </p:txBody>
      </p:sp>
      <p:sp>
        <p:nvSpPr>
          <p:cNvPr id="3" name="flow card 0"/>
          <p:cNvSpPr/>
          <p:nvPr/>
        </p:nvSpPr>
        <p:spPr>
          <a:xfrm>
            <a:off x="457200" y="1234440"/>
            <a:ext cx="1874520" cy="2743200"/>
          </a:xfrm>
          <a:prstGeom prst="roundRect">
            <a:avLst>
              <a:gd name="adj" fmla="val 5854"/>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flow 0 circle"/>
          <p:cNvSpPr/>
          <p:nvPr/>
        </p:nvSpPr>
        <p:spPr>
          <a:xfrm>
            <a:off x="1024128" y="1417320"/>
            <a:ext cx="731520" cy="731520"/>
          </a:xfrm>
          <a:prstGeom prst="ellipse">
            <a:avLst/>
          </a:prstGeom>
          <a:solidFill>
            <a:srgbClr val="4F46E5"/>
          </a:solidFill>
          <a:ln w="12700">
            <a:solidFill>
              <a:srgbClr val="4F46E5"/>
            </a:solidFill>
            <a:prstDash val="solid"/>
          </a:ln>
        </p:spPr>
      </p:sp>
      <p:pic>
        <p:nvPicPr>
          <p:cNvPr id="5" name="flow 0 icon" descr="preencoded.png">    </p:cNvPr>
          <p:cNvPicPr>
            <a:picLocks noChangeAspect="1"/>
          </p:cNvPicPr>
          <p:nvPr/>
        </p:nvPicPr>
        <p:blipFill>
          <a:blip r:embed="rId1"/>
          <a:stretch>
            <a:fillRect/>
          </a:stretch>
        </p:blipFill>
        <p:spPr>
          <a:xfrm>
            <a:off x="1199693" y="1592885"/>
            <a:ext cx="380390" cy="380390"/>
          </a:xfrm>
          <a:prstGeom prst="rect">
            <a:avLst/>
          </a:prstGeom>
        </p:spPr>
      </p:pic>
      <p:sp>
        <p:nvSpPr>
          <p:cNvPr id="6" name="flow head 0"/>
          <p:cNvSpPr txBox="1"/>
          <p:nvPr/>
        </p:nvSpPr>
        <p:spPr>
          <a:xfrm>
            <a:off x="594360" y="2286000"/>
            <a:ext cx="1600200" cy="365760"/>
          </a:xfrm>
          <a:prstGeom prst="rect">
            <a:avLst/>
          </a:prstGeom>
          <a:noFill/>
          <a:ln/>
        </p:spPr>
        <p:txBody>
          <a:bodyPr wrap="square" lIns="0" tIns="0" rIns="0" bIns="0" rtlCol="0" anchor="ctr"/>
          <a:lstStyle/>
          <a:p>
            <a:pPr algn="ctr" indent="0" marL="0">
              <a:buNone/>
            </a:pPr>
            <a:r>
              <a:rPr lang="en-US" sz="1600" b="1" dirty="0">
                <a:solidFill>
                  <a:schemeClr val="tx2"/>
                </a:solidFill>
              </a:rPr>
              <a:t>Static stream</a:t>
            </a:r>
            <a:endParaRPr lang="en-US" sz="1600" dirty="0"/>
          </a:p>
        </p:txBody>
      </p:sp>
      <p:sp>
        <p:nvSpPr>
          <p:cNvPr id="7" name="flow body 0"/>
          <p:cNvSpPr txBox="1"/>
          <p:nvPr/>
        </p:nvSpPr>
        <p:spPr>
          <a:xfrm>
            <a:off x="594360" y="2697480"/>
            <a:ext cx="1600200" cy="1143000"/>
          </a:xfrm>
          <a:prstGeom prst="rect">
            <a:avLst/>
          </a:prstGeom>
          <a:noFill/>
          <a:ln/>
        </p:spPr>
        <p:txBody>
          <a:bodyPr wrap="square" lIns="0" tIns="0" rIns="0" bIns="0" rtlCol="0" anchor="ctr"/>
          <a:lstStyle/>
          <a:p>
            <a:pPr algn="ctr" indent="0" marL="0">
              <a:buNone/>
            </a:pPr>
            <a:r>
              <a:rPr lang="en-US" sz="1300" dirty="0">
                <a:solidFill>
                  <a:schemeClr val="tx1"/>
                </a:solidFill>
              </a:rPr>
              <a:t>EHR: age, BMI, HbA1c, labs, meds, TCF7L2 gene</a:t>
            </a:r>
            <a:endParaRPr lang="en-US" sz="1300" dirty="0"/>
          </a:p>
        </p:txBody>
      </p:sp>
      <p:sp>
        <p:nvSpPr>
          <p:cNvPr id="8" name="arrow 0"/>
          <p:cNvSpPr/>
          <p:nvPr/>
        </p:nvSpPr>
        <p:spPr>
          <a:xfrm>
            <a:off x="2377440" y="2468880"/>
            <a:ext cx="164592" cy="274320"/>
          </a:xfrm>
          <a:prstGeom prst="rtTriangle">
            <a:avLst/>
          </a:prstGeom>
          <a:solidFill>
            <a:srgbClr val="64748B"/>
          </a:solidFill>
          <a:ln w="12700">
            <a:solidFill>
              <a:srgbClr val="64748B"/>
            </a:solidFill>
            <a:prstDash val="solid"/>
          </a:ln>
        </p:spPr>
      </p:sp>
      <p:sp>
        <p:nvSpPr>
          <p:cNvPr id="9" name="flow card 1"/>
          <p:cNvSpPr/>
          <p:nvPr/>
        </p:nvSpPr>
        <p:spPr>
          <a:xfrm>
            <a:off x="2578608" y="1234440"/>
            <a:ext cx="1874520" cy="2743200"/>
          </a:xfrm>
          <a:prstGeom prst="roundRect">
            <a:avLst>
              <a:gd name="adj" fmla="val 5854"/>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0" name="flow 1 circle"/>
          <p:cNvSpPr/>
          <p:nvPr/>
        </p:nvSpPr>
        <p:spPr>
          <a:xfrm>
            <a:off x="3145536" y="1417320"/>
            <a:ext cx="731520" cy="731520"/>
          </a:xfrm>
          <a:prstGeom prst="ellipse">
            <a:avLst/>
          </a:prstGeom>
          <a:solidFill>
            <a:srgbClr val="14B8A6"/>
          </a:solidFill>
          <a:ln w="12700">
            <a:solidFill>
              <a:srgbClr val="14B8A6"/>
            </a:solidFill>
            <a:prstDash val="solid"/>
          </a:ln>
        </p:spPr>
      </p:sp>
      <p:pic>
        <p:nvPicPr>
          <p:cNvPr id="11" name="flow 1 icon" descr="preencoded.png">    </p:cNvPr>
          <p:cNvPicPr>
            <a:picLocks noChangeAspect="1"/>
          </p:cNvPicPr>
          <p:nvPr/>
        </p:nvPicPr>
        <p:blipFill>
          <a:blip r:embed="rId2"/>
          <a:stretch>
            <a:fillRect/>
          </a:stretch>
        </p:blipFill>
        <p:spPr>
          <a:xfrm>
            <a:off x="3321101" y="1592885"/>
            <a:ext cx="380390" cy="380390"/>
          </a:xfrm>
          <a:prstGeom prst="rect">
            <a:avLst/>
          </a:prstGeom>
        </p:spPr>
      </p:pic>
      <p:sp>
        <p:nvSpPr>
          <p:cNvPr id="12" name="flow head 1"/>
          <p:cNvSpPr txBox="1"/>
          <p:nvPr/>
        </p:nvSpPr>
        <p:spPr>
          <a:xfrm>
            <a:off x="2715768" y="2286000"/>
            <a:ext cx="1600200" cy="365760"/>
          </a:xfrm>
          <a:prstGeom prst="rect">
            <a:avLst/>
          </a:prstGeom>
          <a:noFill/>
          <a:ln/>
        </p:spPr>
        <p:txBody>
          <a:bodyPr wrap="square" lIns="0" tIns="0" rIns="0" bIns="0" rtlCol="0" anchor="ctr"/>
          <a:lstStyle/>
          <a:p>
            <a:pPr algn="ctr" indent="0" marL="0">
              <a:buNone/>
            </a:pPr>
            <a:r>
              <a:rPr lang="en-US" sz="1600" b="1" dirty="0">
                <a:solidFill>
                  <a:schemeClr val="tx2"/>
                </a:solidFill>
              </a:rPr>
              <a:t>Dynamic stream</a:t>
            </a:r>
            <a:endParaRPr lang="en-US" sz="1600" dirty="0"/>
          </a:p>
        </p:txBody>
      </p:sp>
      <p:sp>
        <p:nvSpPr>
          <p:cNvPr id="13" name="flow body 1"/>
          <p:cNvSpPr txBox="1"/>
          <p:nvPr/>
        </p:nvSpPr>
        <p:spPr>
          <a:xfrm>
            <a:off x="2715768" y="2697480"/>
            <a:ext cx="1600200" cy="1143000"/>
          </a:xfrm>
          <a:prstGeom prst="rect">
            <a:avLst/>
          </a:prstGeom>
          <a:noFill/>
          <a:ln/>
        </p:spPr>
        <p:txBody>
          <a:bodyPr wrap="square" lIns="0" tIns="0" rIns="0" bIns="0" rtlCol="0" anchor="ctr"/>
          <a:lstStyle/>
          <a:p>
            <a:pPr algn="ctr" indent="0" marL="0">
              <a:buNone/>
            </a:pPr>
            <a:r>
              <a:rPr lang="en-US" sz="1300" dirty="0">
                <a:solidFill>
                  <a:schemeClr val="tx1"/>
                </a:solidFill>
              </a:rPr>
              <a:t>Every 5 min: CGM glucose, heart rate, HRV, steps, sleep, meal log</a:t>
            </a:r>
            <a:endParaRPr lang="en-US" sz="1300" dirty="0"/>
          </a:p>
        </p:txBody>
      </p:sp>
      <p:sp>
        <p:nvSpPr>
          <p:cNvPr id="14" name="arrow 1"/>
          <p:cNvSpPr/>
          <p:nvPr/>
        </p:nvSpPr>
        <p:spPr>
          <a:xfrm>
            <a:off x="4498848" y="2468880"/>
            <a:ext cx="164592" cy="274320"/>
          </a:xfrm>
          <a:prstGeom prst="rtTriangle">
            <a:avLst/>
          </a:prstGeom>
          <a:solidFill>
            <a:srgbClr val="64748B"/>
          </a:solidFill>
          <a:ln w="12700">
            <a:solidFill>
              <a:srgbClr val="64748B"/>
            </a:solidFill>
            <a:prstDash val="solid"/>
          </a:ln>
        </p:spPr>
      </p:sp>
      <p:sp>
        <p:nvSpPr>
          <p:cNvPr id="15" name="flow card 2"/>
          <p:cNvSpPr/>
          <p:nvPr/>
        </p:nvSpPr>
        <p:spPr>
          <a:xfrm>
            <a:off x="4700016" y="1234440"/>
            <a:ext cx="1874520" cy="2743200"/>
          </a:xfrm>
          <a:prstGeom prst="roundRect">
            <a:avLst>
              <a:gd name="adj" fmla="val 5854"/>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6" name="flow 2 circle"/>
          <p:cNvSpPr/>
          <p:nvPr/>
        </p:nvSpPr>
        <p:spPr>
          <a:xfrm>
            <a:off x="5266944" y="1417320"/>
            <a:ext cx="731520" cy="731520"/>
          </a:xfrm>
          <a:prstGeom prst="ellipse">
            <a:avLst/>
          </a:prstGeom>
          <a:solidFill>
            <a:srgbClr val="0F766E"/>
          </a:solidFill>
          <a:ln w="12700">
            <a:solidFill>
              <a:srgbClr val="0F766E"/>
            </a:solidFill>
            <a:prstDash val="solid"/>
          </a:ln>
        </p:spPr>
      </p:sp>
      <p:pic>
        <p:nvPicPr>
          <p:cNvPr id="17" name="flow 2 icon" descr="preencoded.png">    </p:cNvPr>
          <p:cNvPicPr>
            <a:picLocks noChangeAspect="1"/>
          </p:cNvPicPr>
          <p:nvPr/>
        </p:nvPicPr>
        <p:blipFill>
          <a:blip r:embed="rId3"/>
          <a:stretch>
            <a:fillRect/>
          </a:stretch>
        </p:blipFill>
        <p:spPr>
          <a:xfrm>
            <a:off x="5442509" y="1592885"/>
            <a:ext cx="380390" cy="380390"/>
          </a:xfrm>
          <a:prstGeom prst="rect">
            <a:avLst/>
          </a:prstGeom>
        </p:spPr>
      </p:pic>
      <p:sp>
        <p:nvSpPr>
          <p:cNvPr id="18" name="flow head 2"/>
          <p:cNvSpPr txBox="1"/>
          <p:nvPr/>
        </p:nvSpPr>
        <p:spPr>
          <a:xfrm>
            <a:off x="4837176" y="2286000"/>
            <a:ext cx="1600200" cy="365760"/>
          </a:xfrm>
          <a:prstGeom prst="rect">
            <a:avLst/>
          </a:prstGeom>
          <a:noFill/>
          <a:ln/>
        </p:spPr>
        <p:txBody>
          <a:bodyPr wrap="square" lIns="0" tIns="0" rIns="0" bIns="0" rtlCol="0" anchor="ctr"/>
          <a:lstStyle/>
          <a:p>
            <a:pPr algn="ctr" indent="0" marL="0">
              <a:buNone/>
            </a:pPr>
            <a:r>
              <a:rPr lang="en-US" sz="1600" b="1" dirty="0">
                <a:solidFill>
                  <a:schemeClr val="tx2"/>
                </a:solidFill>
              </a:rPr>
              <a:t>Digital Twin</a:t>
            </a:r>
            <a:endParaRPr lang="en-US" sz="1600" dirty="0"/>
          </a:p>
        </p:txBody>
      </p:sp>
      <p:sp>
        <p:nvSpPr>
          <p:cNvPr id="19" name="flow body 2"/>
          <p:cNvSpPr txBox="1"/>
          <p:nvPr/>
        </p:nvSpPr>
        <p:spPr>
          <a:xfrm>
            <a:off x="4837176" y="2697480"/>
            <a:ext cx="1600200" cy="1143000"/>
          </a:xfrm>
          <a:prstGeom prst="rect">
            <a:avLst/>
          </a:prstGeom>
          <a:noFill/>
          <a:ln/>
        </p:spPr>
        <p:txBody>
          <a:bodyPr wrap="square" lIns="0" tIns="0" rIns="0" bIns="0" rtlCol="0" anchor="ctr"/>
          <a:lstStyle/>
          <a:p>
            <a:pPr algn="ctr" indent="0" marL="0">
              <a:buNone/>
            </a:pPr>
            <a:r>
              <a:rPr lang="en-US" sz="1300" dirty="0">
                <a:solidFill>
                  <a:schemeClr val="tx1"/>
                </a:solidFill>
              </a:rPr>
              <a:t>Fuses both streams + personal physiology model</a:t>
            </a:r>
            <a:endParaRPr lang="en-US" sz="1300" dirty="0"/>
          </a:p>
        </p:txBody>
      </p:sp>
      <p:sp>
        <p:nvSpPr>
          <p:cNvPr id="20" name="arrow 2"/>
          <p:cNvSpPr/>
          <p:nvPr/>
        </p:nvSpPr>
        <p:spPr>
          <a:xfrm>
            <a:off x="6620256" y="2468880"/>
            <a:ext cx="164592" cy="274320"/>
          </a:xfrm>
          <a:prstGeom prst="rtTriangle">
            <a:avLst/>
          </a:prstGeom>
          <a:solidFill>
            <a:srgbClr val="64748B"/>
          </a:solidFill>
          <a:ln w="12700">
            <a:solidFill>
              <a:srgbClr val="64748B"/>
            </a:solidFill>
            <a:prstDash val="solid"/>
          </a:ln>
        </p:spPr>
      </p:sp>
      <p:sp>
        <p:nvSpPr>
          <p:cNvPr id="21" name="flow card 3"/>
          <p:cNvSpPr/>
          <p:nvPr/>
        </p:nvSpPr>
        <p:spPr>
          <a:xfrm>
            <a:off x="6821424" y="1234440"/>
            <a:ext cx="1874520" cy="2743200"/>
          </a:xfrm>
          <a:prstGeom prst="roundRect">
            <a:avLst>
              <a:gd name="adj" fmla="val 5854"/>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22" name="flow 3 circle"/>
          <p:cNvSpPr/>
          <p:nvPr/>
        </p:nvSpPr>
        <p:spPr>
          <a:xfrm>
            <a:off x="7388352" y="1417320"/>
            <a:ext cx="731520" cy="731520"/>
          </a:xfrm>
          <a:prstGeom prst="ellipse">
            <a:avLst/>
          </a:prstGeom>
          <a:solidFill>
            <a:srgbClr val="D97706"/>
          </a:solidFill>
          <a:ln w="12700">
            <a:solidFill>
              <a:srgbClr val="D97706"/>
            </a:solidFill>
            <a:prstDash val="solid"/>
          </a:ln>
        </p:spPr>
      </p:sp>
      <p:pic>
        <p:nvPicPr>
          <p:cNvPr id="23" name="flow 3 icon" descr="preencoded.png">    </p:cNvPr>
          <p:cNvPicPr>
            <a:picLocks noChangeAspect="1"/>
          </p:cNvPicPr>
          <p:nvPr/>
        </p:nvPicPr>
        <p:blipFill>
          <a:blip r:embed="rId4"/>
          <a:stretch>
            <a:fillRect/>
          </a:stretch>
        </p:blipFill>
        <p:spPr>
          <a:xfrm>
            <a:off x="7563917" y="1592885"/>
            <a:ext cx="380390" cy="380390"/>
          </a:xfrm>
          <a:prstGeom prst="rect">
            <a:avLst/>
          </a:prstGeom>
        </p:spPr>
      </p:pic>
      <p:sp>
        <p:nvSpPr>
          <p:cNvPr id="24" name="flow head 3"/>
          <p:cNvSpPr txBox="1"/>
          <p:nvPr/>
        </p:nvSpPr>
        <p:spPr>
          <a:xfrm>
            <a:off x="6958584" y="2286000"/>
            <a:ext cx="1600200" cy="365760"/>
          </a:xfrm>
          <a:prstGeom prst="rect">
            <a:avLst/>
          </a:prstGeom>
          <a:noFill/>
          <a:ln/>
        </p:spPr>
        <p:txBody>
          <a:bodyPr wrap="square" lIns="0" tIns="0" rIns="0" bIns="0" rtlCol="0" anchor="ctr"/>
          <a:lstStyle/>
          <a:p>
            <a:pPr algn="ctr" indent="0" marL="0">
              <a:buNone/>
            </a:pPr>
            <a:r>
              <a:rPr lang="en-US" sz="1600" b="1" dirty="0">
                <a:solidFill>
                  <a:schemeClr val="tx2"/>
                </a:solidFill>
              </a:rPr>
              <a:t>Doctor gets</a:t>
            </a:r>
            <a:endParaRPr lang="en-US" sz="1600" dirty="0"/>
          </a:p>
        </p:txBody>
      </p:sp>
      <p:sp>
        <p:nvSpPr>
          <p:cNvPr id="25" name="flow body 3"/>
          <p:cNvSpPr txBox="1"/>
          <p:nvPr/>
        </p:nvSpPr>
        <p:spPr>
          <a:xfrm>
            <a:off x="6958584" y="2697480"/>
            <a:ext cx="1600200" cy="1143000"/>
          </a:xfrm>
          <a:prstGeom prst="rect">
            <a:avLst/>
          </a:prstGeom>
          <a:noFill/>
          <a:ln/>
        </p:spPr>
        <p:txBody>
          <a:bodyPr wrap="square" lIns="0" tIns="0" rIns="0" bIns="0" rtlCol="0" anchor="ctr"/>
          <a:lstStyle/>
          <a:p>
            <a:pPr algn="ctr" indent="0" marL="0">
              <a:buNone/>
            </a:pPr>
            <a:r>
              <a:rPr lang="en-US" sz="1300" dirty="0">
                <a:solidFill>
                  <a:schemeClr val="tx1"/>
                </a:solidFill>
              </a:rPr>
              <a:t>2-h spike risk, forecast, reasons, alerts, what-if</a:t>
            </a:r>
            <a:endParaRPr lang="en-US" sz="1300" dirty="0"/>
          </a:p>
        </p:txBody>
      </p:sp>
      <p:sp>
        <p:nvSpPr>
          <p:cNvPr id="26" name="tagline"/>
          <p:cNvSpPr txBox="1"/>
          <p:nvPr/>
        </p:nvSpPr>
        <p:spPr>
          <a:xfrm>
            <a:off x="457200" y="4160520"/>
            <a:ext cx="8229600" cy="411480"/>
          </a:xfrm>
          <a:prstGeom prst="rect">
            <a:avLst/>
          </a:prstGeom>
          <a:noFill/>
          <a:ln/>
        </p:spPr>
        <p:txBody>
          <a:bodyPr wrap="square" lIns="0" tIns="0" rIns="0" bIns="0" rtlCol="0" anchor="ctr"/>
          <a:lstStyle/>
          <a:p>
            <a:pPr algn="ctr" indent="0" marL="0">
              <a:buNone/>
            </a:pPr>
            <a:r>
              <a:rPr lang="en-US" sz="1800" i="1" dirty="0">
                <a:solidFill>
                  <a:schemeClr val="accent1"/>
                </a:solidFill>
              </a:rPr>
              <a:t>Proactive, not reactive: act before glucose crosses 180 mg/dL</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Data: synthetic, privacy-safe, India-specific</a:t>
            </a:r>
            <a:endParaRPr lang="en-US" sz="3000" dirty="0"/>
          </a:p>
        </p:txBody>
      </p:sp>
      <p:sp>
        <p:nvSpPr>
          <p:cNvPr id="3" name="data card 0"/>
          <p:cNvSpPr/>
          <p:nvPr/>
        </p:nvSpPr>
        <p:spPr>
          <a:xfrm>
            <a:off x="457200" y="1143000"/>
            <a:ext cx="4023360" cy="2926080"/>
          </a:xfrm>
          <a:prstGeom prst="roundRect">
            <a:avLst>
              <a:gd name="adj" fmla="val 375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data head 0"/>
          <p:cNvSpPr txBox="1"/>
          <p:nvPr/>
        </p:nvSpPr>
        <p:spPr>
          <a:xfrm>
            <a:off x="731520" y="1280160"/>
            <a:ext cx="3474720" cy="411480"/>
          </a:xfrm>
          <a:prstGeom prst="rect">
            <a:avLst/>
          </a:prstGeom>
          <a:noFill/>
          <a:ln/>
        </p:spPr>
        <p:txBody>
          <a:bodyPr wrap="square" lIns="0" tIns="0" rIns="0" bIns="0" rtlCol="0" anchor="ctr"/>
          <a:lstStyle/>
          <a:p>
            <a:pPr indent="0" marL="0">
              <a:buNone/>
            </a:pPr>
            <a:r>
              <a:rPr lang="en-US" sz="1800" b="1" dirty="0">
                <a:solidFill>
                  <a:srgbClr val="4F46E5"/>
                </a:solidFill>
              </a:rPr>
              <a:t>Synthetic EHR (FHIR-style)</a:t>
            </a:r>
            <a:endParaRPr lang="en-US" sz="1800" dirty="0"/>
          </a:p>
        </p:txBody>
      </p:sp>
      <p:sp>
        <p:nvSpPr>
          <p:cNvPr id="5" name="data list 0"/>
          <p:cNvSpPr txBox="1"/>
          <p:nvPr/>
        </p:nvSpPr>
        <p:spPr>
          <a:xfrm>
            <a:off x="731520" y="1737360"/>
            <a:ext cx="3566160" cy="2194560"/>
          </a:xfrm>
          <a:prstGeom prst="rect">
            <a:avLst/>
          </a:prstGeom>
          <a:noFill/>
          <a:ln/>
        </p:spPr>
        <p:txBody>
          <a:bodyPr wrap="square" rtlCol="0" anchor="t"/>
          <a:lstStyle/>
          <a:p>
            <a:pPr marL="342900" indent="-342900">
              <a:spcAft>
                <a:spcPts val="400"/>
              </a:spcAft>
              <a:buSzPct val="100000"/>
              <a:buChar char="•"/>
            </a:pPr>
            <a:r>
              <a:rPr lang="en-US" sz="1400" dirty="0">
                <a:solidFill>
                  <a:schemeClr val="tx1"/>
                </a:solidFill>
              </a:rPr>
              <a:t>80 virtual Indian adults with T2D</a:t>
            </a:r>
            <a:endParaRPr lang="en-US" sz="1400" dirty="0"/>
          </a:p>
          <a:p>
            <a:pPr marL="342900" indent="-342900">
              <a:spcAft>
                <a:spcPts val="400"/>
              </a:spcAft>
              <a:buSzPct val="100000"/>
              <a:buChar char="•"/>
            </a:pPr>
            <a:r>
              <a:rPr lang="en-US" sz="1400" dirty="0">
                <a:solidFill>
                  <a:schemeClr val="tx1"/>
                </a:solidFill>
              </a:rPr>
              <a:t>ICD-10 diagnoses: E11, I10, E78.5</a:t>
            </a:r>
            <a:endParaRPr lang="en-US" sz="1400" dirty="0"/>
          </a:p>
          <a:p>
            <a:pPr marL="342900" indent="-342900">
              <a:spcAft>
                <a:spcPts val="400"/>
              </a:spcAft>
              <a:buSzPct val="100000"/>
              <a:buChar char="•"/>
            </a:pPr>
            <a:r>
              <a:rPr lang="en-US" sz="1400" dirty="0">
                <a:solidFill>
                  <a:schemeClr val="tx1"/>
                </a:solidFill>
              </a:rPr>
              <a:t>Metformin, glimepiride, basal insulin, statins</a:t>
            </a:r>
            <a:endParaRPr lang="en-US" sz="1400" dirty="0"/>
          </a:p>
          <a:p>
            <a:pPr marL="342900" indent="-342900">
              <a:spcAft>
                <a:spcPts val="400"/>
              </a:spcAft>
              <a:buSzPct val="100000"/>
              <a:buChar char="•"/>
            </a:pPr>
            <a:r>
              <a:rPr lang="en-US" sz="1400" dirty="0">
                <a:solidFill>
                  <a:schemeClr val="tx1"/>
                </a:solidFill>
              </a:rPr>
              <a:t>HbA1c, FPG, PPBG, lipids, eGFR, urine ACR</a:t>
            </a:r>
            <a:endParaRPr lang="en-US" sz="1400" dirty="0"/>
          </a:p>
          <a:p>
            <a:pPr marL="342900" indent="-342900">
              <a:spcAft>
                <a:spcPts val="400"/>
              </a:spcAft>
              <a:buSzPct val="100000"/>
              <a:buChar char="•"/>
            </a:pPr>
            <a:r>
              <a:rPr lang="en-US" sz="1400" dirty="0">
                <a:solidFill>
                  <a:schemeClr val="tx1"/>
                </a:solidFill>
              </a:rPr>
              <a:t>Genetics: TCF7L2 rs7903146, family history</a:t>
            </a:r>
            <a:endParaRPr lang="en-US" sz="1400" dirty="0"/>
          </a:p>
        </p:txBody>
      </p:sp>
      <p:sp>
        <p:nvSpPr>
          <p:cNvPr id="6" name="data card 1"/>
          <p:cNvSpPr/>
          <p:nvPr/>
        </p:nvSpPr>
        <p:spPr>
          <a:xfrm>
            <a:off x="4663440" y="1143000"/>
            <a:ext cx="4023360" cy="2926080"/>
          </a:xfrm>
          <a:prstGeom prst="roundRect">
            <a:avLst>
              <a:gd name="adj" fmla="val 375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7" name="data head 1"/>
          <p:cNvSpPr txBox="1"/>
          <p:nvPr/>
        </p:nvSpPr>
        <p:spPr>
          <a:xfrm>
            <a:off x="4937760" y="1280160"/>
            <a:ext cx="3474720" cy="411480"/>
          </a:xfrm>
          <a:prstGeom prst="rect">
            <a:avLst/>
          </a:prstGeom>
          <a:noFill/>
          <a:ln/>
        </p:spPr>
        <p:txBody>
          <a:bodyPr wrap="square" lIns="0" tIns="0" rIns="0" bIns="0" rtlCol="0" anchor="ctr"/>
          <a:lstStyle/>
          <a:p>
            <a:pPr indent="0" marL="0">
              <a:buNone/>
            </a:pPr>
            <a:r>
              <a:rPr lang="en-US" sz="1800" b="1" dirty="0">
                <a:solidFill>
                  <a:srgbClr val="14B8A6"/>
                </a:solidFill>
              </a:rPr>
              <a:t>Simulated wearable + CGM</a:t>
            </a:r>
            <a:endParaRPr lang="en-US" sz="1800" dirty="0"/>
          </a:p>
        </p:txBody>
      </p:sp>
      <p:sp>
        <p:nvSpPr>
          <p:cNvPr id="8" name="data list 1"/>
          <p:cNvSpPr txBox="1"/>
          <p:nvPr/>
        </p:nvSpPr>
        <p:spPr>
          <a:xfrm>
            <a:off x="4937760" y="1737360"/>
            <a:ext cx="3566160" cy="2194560"/>
          </a:xfrm>
          <a:prstGeom prst="rect">
            <a:avLst/>
          </a:prstGeom>
          <a:noFill/>
          <a:ln/>
        </p:spPr>
        <p:txBody>
          <a:bodyPr wrap="square" rtlCol="0" anchor="t"/>
          <a:lstStyle/>
          <a:p>
            <a:pPr marL="342900" indent="-342900">
              <a:spcAft>
                <a:spcPts val="400"/>
              </a:spcAft>
              <a:buSzPct val="100000"/>
              <a:buChar char="•"/>
            </a:pPr>
            <a:r>
              <a:rPr lang="en-US" sz="1400" dirty="0">
                <a:solidFill>
                  <a:schemeClr val="tx1"/>
                </a:solidFill>
              </a:rPr>
              <a:t>14 days × 288 readings/day = 322k rows</a:t>
            </a:r>
            <a:endParaRPr lang="en-US" sz="1400" dirty="0"/>
          </a:p>
          <a:p>
            <a:pPr marL="342900" indent="-342900">
              <a:spcAft>
                <a:spcPts val="400"/>
              </a:spcAft>
              <a:buSzPct val="100000"/>
              <a:buChar char="•"/>
            </a:pPr>
            <a:r>
              <a:rPr lang="en-US" sz="1400" dirty="0">
                <a:solidFill>
                  <a:schemeClr val="tx1"/>
                </a:solidFill>
              </a:rPr>
              <a:t>CGM with 10-min lag, noise, dropouts</a:t>
            </a:r>
            <a:endParaRPr lang="en-US" sz="1400" dirty="0"/>
          </a:p>
          <a:p>
            <a:pPr marL="342900" indent="-342900">
              <a:spcAft>
                <a:spcPts val="400"/>
              </a:spcAft>
              <a:buSzPct val="100000"/>
              <a:buChar char="•"/>
            </a:pPr>
            <a:r>
              <a:rPr lang="en-US" sz="1400" dirty="0">
                <a:solidFill>
                  <a:schemeClr val="tx1"/>
                </a:solidFill>
              </a:rPr>
              <a:t>Heart rate, HRV, steps, sleep stages</a:t>
            </a:r>
            <a:endParaRPr lang="en-US" sz="1400" dirty="0"/>
          </a:p>
          <a:p>
            <a:pPr marL="342900" indent="-342900">
              <a:spcAft>
                <a:spcPts val="400"/>
              </a:spcAft>
              <a:buSzPct val="100000"/>
              <a:buChar char="•"/>
            </a:pPr>
            <a:r>
              <a:rPr lang="en-US" sz="1400" dirty="0">
                <a:solidFill>
                  <a:schemeClr val="tx1"/>
                </a:solidFill>
              </a:rPr>
              <a:t>Meal log: ~70% of meals, ±22% carb error</a:t>
            </a:r>
            <a:endParaRPr lang="en-US" sz="1400" dirty="0"/>
          </a:p>
          <a:p>
            <a:pPr marL="342900" indent="-342900">
              <a:spcAft>
                <a:spcPts val="400"/>
              </a:spcAft>
              <a:buSzPct val="100000"/>
              <a:buChar char="•"/>
            </a:pPr>
            <a:r>
              <a:rPr lang="en-US" sz="1400" dirty="0">
                <a:solidFill>
                  <a:schemeClr val="tx1"/>
                </a:solidFill>
              </a:rPr>
              <a:t>Late dinners, rice-heavy lunches, festive sweets</a:t>
            </a:r>
            <a:endParaRPr lang="en-US" sz="1400" dirty="0"/>
          </a:p>
        </p:txBody>
      </p:sp>
      <p:sp>
        <p:nvSpPr>
          <p:cNvPr id="9" name="data note"/>
          <p:cNvSpPr txBox="1"/>
          <p:nvPr/>
        </p:nvSpPr>
        <p:spPr>
          <a:xfrm>
            <a:off x="457200" y="4206240"/>
            <a:ext cx="8229600" cy="502920"/>
          </a:xfrm>
          <a:prstGeom prst="rect">
            <a:avLst/>
          </a:prstGeom>
          <a:noFill/>
          <a:ln/>
        </p:spPr>
        <p:txBody>
          <a:bodyPr wrap="square" lIns="0" tIns="0" rIns="0" bIns="0" rtlCol="0" anchor="ctr"/>
          <a:lstStyle/>
          <a:p>
            <a:pPr indent="0" marL="0">
              <a:buNone/>
            </a:pPr>
            <a:r>
              <a:rPr lang="en-US" sz="1200" dirty="0">
                <a:solidFill>
                  <a:schemeClr val="accent6"/>
                </a:solidFill>
              </a:rPr>
              <a:t>Labs are consistent with each patient's simulated glucose (HbA1c from the ADAG formula). No real patient data is used (DPDP Act / HIPAA). The schema maps to Synthea / MIMIC-IV.</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Architecture</a:t>
            </a:r>
            <a:endParaRPr lang="en-US" sz="3000" dirty="0"/>
          </a:p>
        </p:txBody>
      </p:sp>
      <p:pic>
        <p:nvPicPr>
          <p:cNvPr id="3" name="architecture diagram" descr="/home/claude/glucotwin/docs/architecture.png">    </p:cNvPr>
          <p:cNvPicPr>
            <a:picLocks noChangeAspect="1"/>
          </p:cNvPicPr>
          <p:nvPr/>
        </p:nvPicPr>
        <p:blipFill>
          <a:blip r:embed="rId1"/>
          <a:stretch>
            <a:fillRect/>
          </a:stretch>
        </p:blipFill>
        <p:spPr>
          <a:xfrm>
            <a:off x="457200" y="1234440"/>
            <a:ext cx="8229600" cy="2301236"/>
          </a:xfrm>
          <a:prstGeom prst="rect">
            <a:avLst/>
          </a:prstGeom>
        </p:spPr>
      </p:pic>
      <p:sp>
        <p:nvSpPr>
          <p:cNvPr id="4" name="tech 0"/>
          <p:cNvSpPr/>
          <p:nvPr/>
        </p:nvSpPr>
        <p:spPr>
          <a:xfrm>
            <a:off x="457200" y="3886200"/>
            <a:ext cx="1920240" cy="457200"/>
          </a:xfrm>
          <a:prstGeom prst="roundRect">
            <a:avLst>
              <a:gd name="adj" fmla="val 20000"/>
            </a:avLst>
          </a:prstGeom>
          <a:solidFill>
            <a:srgbClr val="4F46E5"/>
          </a:solidFill>
          <a:ln w="12700">
            <a:solidFill>
              <a:srgbClr val="4F46E5"/>
            </a:solidFill>
            <a:prstDash val="solid"/>
          </a:ln>
        </p:spPr>
      </p:sp>
      <p:sp>
        <p:nvSpPr>
          <p:cNvPr id="5" name="tech label 0"/>
          <p:cNvSpPr txBox="1"/>
          <p:nvPr/>
        </p:nvSpPr>
        <p:spPr>
          <a:xfrm>
            <a:off x="457200" y="3886200"/>
            <a:ext cx="1920240" cy="457200"/>
          </a:xfrm>
          <a:prstGeom prst="rect">
            <a:avLst/>
          </a:prstGeom>
          <a:noFill/>
          <a:ln/>
        </p:spPr>
        <p:txBody>
          <a:bodyPr wrap="square" lIns="0" tIns="0" rIns="0" bIns="0" rtlCol="0" anchor="ctr"/>
          <a:lstStyle/>
          <a:p>
            <a:pPr algn="ctr" indent="0" marL="0">
              <a:buNone/>
            </a:pPr>
            <a:r>
              <a:rPr lang="en-US" sz="1300" b="1" dirty="0">
                <a:solidFill>
                  <a:schemeClr val="bg1"/>
                </a:solidFill>
              </a:rPr>
              <a:t>Python data generator</a:t>
            </a:r>
            <a:endParaRPr lang="en-US" sz="1300" dirty="0"/>
          </a:p>
        </p:txBody>
      </p:sp>
      <p:sp>
        <p:nvSpPr>
          <p:cNvPr id="6" name="tech 1"/>
          <p:cNvSpPr/>
          <p:nvPr/>
        </p:nvSpPr>
        <p:spPr>
          <a:xfrm>
            <a:off x="2560320" y="3886200"/>
            <a:ext cx="1920240" cy="457200"/>
          </a:xfrm>
          <a:prstGeom prst="roundRect">
            <a:avLst>
              <a:gd name="adj" fmla="val 20000"/>
            </a:avLst>
          </a:prstGeom>
          <a:solidFill>
            <a:srgbClr val="D97706"/>
          </a:solidFill>
          <a:ln w="12700">
            <a:solidFill>
              <a:srgbClr val="D97706"/>
            </a:solidFill>
            <a:prstDash val="solid"/>
          </a:ln>
        </p:spPr>
      </p:sp>
      <p:sp>
        <p:nvSpPr>
          <p:cNvPr id="7" name="tech label 1"/>
          <p:cNvSpPr txBox="1"/>
          <p:nvPr/>
        </p:nvSpPr>
        <p:spPr>
          <a:xfrm>
            <a:off x="2560320" y="3886200"/>
            <a:ext cx="1920240" cy="457200"/>
          </a:xfrm>
          <a:prstGeom prst="rect">
            <a:avLst/>
          </a:prstGeom>
          <a:noFill/>
          <a:ln/>
        </p:spPr>
        <p:txBody>
          <a:bodyPr wrap="square" lIns="0" tIns="0" rIns="0" bIns="0" rtlCol="0" anchor="ctr"/>
          <a:lstStyle/>
          <a:p>
            <a:pPr algn="ctr" indent="0" marL="0">
              <a:buNone/>
            </a:pPr>
            <a:r>
              <a:rPr lang="en-US" sz="1300" b="1" dirty="0">
                <a:solidFill>
                  <a:schemeClr val="bg1"/>
                </a:solidFill>
              </a:rPr>
              <a:t>FastAPI + LightGBM twin</a:t>
            </a:r>
            <a:endParaRPr lang="en-US" sz="1300" dirty="0"/>
          </a:p>
        </p:txBody>
      </p:sp>
      <p:sp>
        <p:nvSpPr>
          <p:cNvPr id="8" name="tech 2"/>
          <p:cNvSpPr/>
          <p:nvPr/>
        </p:nvSpPr>
        <p:spPr>
          <a:xfrm>
            <a:off x="4663440" y="3886200"/>
            <a:ext cx="1920240" cy="457200"/>
          </a:xfrm>
          <a:prstGeom prst="roundRect">
            <a:avLst>
              <a:gd name="adj" fmla="val 20000"/>
            </a:avLst>
          </a:prstGeom>
          <a:solidFill>
            <a:srgbClr val="0F766E"/>
          </a:solidFill>
          <a:ln w="12700">
            <a:solidFill>
              <a:srgbClr val="0F766E"/>
            </a:solidFill>
            <a:prstDash val="solid"/>
          </a:ln>
        </p:spPr>
      </p:sp>
      <p:sp>
        <p:nvSpPr>
          <p:cNvPr id="9" name="tech label 2"/>
          <p:cNvSpPr txBox="1"/>
          <p:nvPr/>
        </p:nvSpPr>
        <p:spPr>
          <a:xfrm>
            <a:off x="4663440" y="3886200"/>
            <a:ext cx="1920240" cy="457200"/>
          </a:xfrm>
          <a:prstGeom prst="rect">
            <a:avLst/>
          </a:prstGeom>
          <a:noFill/>
          <a:ln/>
        </p:spPr>
        <p:txBody>
          <a:bodyPr wrap="square" lIns="0" tIns="0" rIns="0" bIns="0" rtlCol="0" anchor="ctr"/>
          <a:lstStyle/>
          <a:p>
            <a:pPr algn="ctr" indent="0" marL="0">
              <a:buNone/>
            </a:pPr>
            <a:r>
              <a:rPr lang="en-US" sz="1300" b="1" dirty="0">
                <a:solidFill>
                  <a:schemeClr val="bg1"/>
                </a:solidFill>
              </a:rPr>
              <a:t>Spring Boot 3 (Java 17)</a:t>
            </a:r>
            <a:endParaRPr lang="en-US" sz="1300" dirty="0"/>
          </a:p>
        </p:txBody>
      </p:sp>
      <p:sp>
        <p:nvSpPr>
          <p:cNvPr id="10" name="tech 3"/>
          <p:cNvSpPr/>
          <p:nvPr/>
        </p:nvSpPr>
        <p:spPr>
          <a:xfrm>
            <a:off x="6766560" y="3886200"/>
            <a:ext cx="1920240" cy="457200"/>
          </a:xfrm>
          <a:prstGeom prst="roundRect">
            <a:avLst>
              <a:gd name="adj" fmla="val 20000"/>
            </a:avLst>
          </a:prstGeom>
          <a:solidFill>
            <a:srgbClr val="14B8A6"/>
          </a:solidFill>
          <a:ln w="12700">
            <a:solidFill>
              <a:srgbClr val="14B8A6"/>
            </a:solidFill>
            <a:prstDash val="solid"/>
          </a:ln>
        </p:spPr>
      </p:sp>
      <p:sp>
        <p:nvSpPr>
          <p:cNvPr id="11" name="tech label 3"/>
          <p:cNvSpPr txBox="1"/>
          <p:nvPr/>
        </p:nvSpPr>
        <p:spPr>
          <a:xfrm>
            <a:off x="6766560" y="3886200"/>
            <a:ext cx="1920240" cy="457200"/>
          </a:xfrm>
          <a:prstGeom prst="rect">
            <a:avLst/>
          </a:prstGeom>
          <a:noFill/>
          <a:ln/>
        </p:spPr>
        <p:txBody>
          <a:bodyPr wrap="square" lIns="0" tIns="0" rIns="0" bIns="0" rtlCol="0" anchor="ctr"/>
          <a:lstStyle/>
          <a:p>
            <a:pPr algn="ctr" indent="0" marL="0">
              <a:buNone/>
            </a:pPr>
            <a:r>
              <a:rPr lang="en-US" sz="1300" b="1" dirty="0">
                <a:solidFill>
                  <a:schemeClr val="bg1"/>
                </a:solidFill>
              </a:rPr>
              <a:t>React + Recharts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Fusion model: 54 features, 3 jobs</a:t>
            </a:r>
            <a:endParaRPr lang="en-US" sz="3000" dirty="0"/>
          </a:p>
        </p:txBody>
      </p:sp>
      <p:sp>
        <p:nvSpPr>
          <p:cNvPr id="3" name="feature card 0"/>
          <p:cNvSpPr/>
          <p:nvPr/>
        </p:nvSpPr>
        <p:spPr>
          <a:xfrm>
            <a:off x="457200" y="1143000"/>
            <a:ext cx="3291840" cy="731520"/>
          </a:xfrm>
          <a:prstGeom prst="roundRect">
            <a:avLst>
              <a:gd name="adj" fmla="val 150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feature n 0"/>
          <p:cNvSpPr txBox="1"/>
          <p:nvPr/>
        </p:nvSpPr>
        <p:spPr>
          <a:xfrm>
            <a:off x="594360" y="1216152"/>
            <a:ext cx="731520" cy="58521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17</a:t>
            </a:r>
            <a:endParaRPr lang="en-US" sz="3000" dirty="0"/>
          </a:p>
        </p:txBody>
      </p:sp>
      <p:sp>
        <p:nvSpPr>
          <p:cNvPr id="5" name="feature head 0"/>
          <p:cNvSpPr txBox="1"/>
          <p:nvPr/>
        </p:nvSpPr>
        <p:spPr>
          <a:xfrm>
            <a:off x="1371600" y="1234440"/>
            <a:ext cx="2286000" cy="274320"/>
          </a:xfrm>
          <a:prstGeom prst="rect">
            <a:avLst/>
          </a:prstGeom>
          <a:noFill/>
          <a:ln/>
        </p:spPr>
        <p:txBody>
          <a:bodyPr wrap="square" lIns="0" tIns="0" rIns="0" bIns="0" rtlCol="0" anchor="ctr"/>
          <a:lstStyle/>
          <a:p>
            <a:pPr indent="0" marL="0">
              <a:buNone/>
            </a:pPr>
            <a:r>
              <a:rPr lang="en-US" sz="1500" b="1" dirty="0">
                <a:solidFill>
                  <a:schemeClr val="tx2"/>
                </a:solidFill>
              </a:rPr>
              <a:t>CGM</a:t>
            </a:r>
            <a:endParaRPr lang="en-US" sz="1500" dirty="0"/>
          </a:p>
        </p:txBody>
      </p:sp>
      <p:sp>
        <p:nvSpPr>
          <p:cNvPr id="6" name="feature body 0"/>
          <p:cNvSpPr txBox="1"/>
          <p:nvPr/>
        </p:nvSpPr>
        <p:spPr>
          <a:xfrm>
            <a:off x="1371600" y="1527048"/>
            <a:ext cx="2286000" cy="274320"/>
          </a:xfrm>
          <a:prstGeom prst="rect">
            <a:avLst/>
          </a:prstGeom>
          <a:noFill/>
          <a:ln/>
        </p:spPr>
        <p:txBody>
          <a:bodyPr wrap="square" lIns="0" tIns="0" rIns="0" bIns="0" rtlCol="0" anchor="ctr"/>
          <a:lstStyle/>
          <a:p>
            <a:pPr indent="0" marL="0">
              <a:buNone/>
            </a:pPr>
            <a:r>
              <a:rPr lang="en-US" sz="1200" dirty="0">
                <a:solidFill>
                  <a:schemeClr val="tx1"/>
                </a:solidFill>
              </a:rPr>
              <a:t>level, lags, trend, variability</a:t>
            </a:r>
            <a:endParaRPr lang="en-US" sz="1200" dirty="0"/>
          </a:p>
        </p:txBody>
      </p:sp>
      <p:sp>
        <p:nvSpPr>
          <p:cNvPr id="7" name="feature card 1"/>
          <p:cNvSpPr/>
          <p:nvPr/>
        </p:nvSpPr>
        <p:spPr>
          <a:xfrm>
            <a:off x="457200" y="2011680"/>
            <a:ext cx="3291840" cy="731520"/>
          </a:xfrm>
          <a:prstGeom prst="roundRect">
            <a:avLst>
              <a:gd name="adj" fmla="val 150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8" name="feature n 1"/>
          <p:cNvSpPr txBox="1"/>
          <p:nvPr/>
        </p:nvSpPr>
        <p:spPr>
          <a:xfrm>
            <a:off x="594360" y="2084832"/>
            <a:ext cx="731520" cy="58521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16</a:t>
            </a:r>
            <a:endParaRPr lang="en-US" sz="3000" dirty="0"/>
          </a:p>
        </p:txBody>
      </p:sp>
      <p:sp>
        <p:nvSpPr>
          <p:cNvPr id="9" name="feature head 1"/>
          <p:cNvSpPr txBox="1"/>
          <p:nvPr/>
        </p:nvSpPr>
        <p:spPr>
          <a:xfrm>
            <a:off x="1371600" y="2103120"/>
            <a:ext cx="2286000" cy="274320"/>
          </a:xfrm>
          <a:prstGeom prst="rect">
            <a:avLst/>
          </a:prstGeom>
          <a:noFill/>
          <a:ln/>
        </p:spPr>
        <p:txBody>
          <a:bodyPr wrap="square" lIns="0" tIns="0" rIns="0" bIns="0" rtlCol="0" anchor="ctr"/>
          <a:lstStyle/>
          <a:p>
            <a:pPr indent="0" marL="0">
              <a:buNone/>
            </a:pPr>
            <a:r>
              <a:rPr lang="en-US" sz="1500" b="1" dirty="0">
                <a:solidFill>
                  <a:schemeClr val="tx2"/>
                </a:solidFill>
              </a:rPr>
              <a:t>Wearable + app</a:t>
            </a:r>
            <a:endParaRPr lang="en-US" sz="1500" dirty="0"/>
          </a:p>
        </p:txBody>
      </p:sp>
      <p:sp>
        <p:nvSpPr>
          <p:cNvPr id="10" name="feature body 1"/>
          <p:cNvSpPr txBox="1"/>
          <p:nvPr/>
        </p:nvSpPr>
        <p:spPr>
          <a:xfrm>
            <a:off x="1371600" y="2395728"/>
            <a:ext cx="2286000" cy="274320"/>
          </a:xfrm>
          <a:prstGeom prst="rect">
            <a:avLst/>
          </a:prstGeom>
          <a:noFill/>
          <a:ln/>
        </p:spPr>
        <p:txBody>
          <a:bodyPr wrap="square" lIns="0" tIns="0" rIns="0" bIns="0" rtlCol="0" anchor="ctr"/>
          <a:lstStyle/>
          <a:p>
            <a:pPr indent="0" marL="0">
              <a:buNone/>
            </a:pPr>
            <a:r>
              <a:rPr lang="en-US" sz="1200" dirty="0">
                <a:solidFill>
                  <a:schemeClr val="tx1"/>
                </a:solidFill>
              </a:rPr>
              <a:t>steps, HR, HRV, sleep, meals</a:t>
            </a:r>
            <a:endParaRPr lang="en-US" sz="1200" dirty="0"/>
          </a:p>
        </p:txBody>
      </p:sp>
      <p:sp>
        <p:nvSpPr>
          <p:cNvPr id="11" name="feature card 2"/>
          <p:cNvSpPr/>
          <p:nvPr/>
        </p:nvSpPr>
        <p:spPr>
          <a:xfrm>
            <a:off x="457200" y="2880360"/>
            <a:ext cx="3291840" cy="731520"/>
          </a:xfrm>
          <a:prstGeom prst="roundRect">
            <a:avLst>
              <a:gd name="adj" fmla="val 150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2" name="feature n 2"/>
          <p:cNvSpPr txBox="1"/>
          <p:nvPr/>
        </p:nvSpPr>
        <p:spPr>
          <a:xfrm>
            <a:off x="594360" y="2953512"/>
            <a:ext cx="731520" cy="58521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18</a:t>
            </a:r>
            <a:endParaRPr lang="en-US" sz="3000" dirty="0"/>
          </a:p>
        </p:txBody>
      </p:sp>
      <p:sp>
        <p:nvSpPr>
          <p:cNvPr id="13" name="feature head 2"/>
          <p:cNvSpPr txBox="1"/>
          <p:nvPr/>
        </p:nvSpPr>
        <p:spPr>
          <a:xfrm>
            <a:off x="1371600" y="2971800"/>
            <a:ext cx="2286000" cy="274320"/>
          </a:xfrm>
          <a:prstGeom prst="rect">
            <a:avLst/>
          </a:prstGeom>
          <a:noFill/>
          <a:ln/>
        </p:spPr>
        <p:txBody>
          <a:bodyPr wrap="square" lIns="0" tIns="0" rIns="0" bIns="0" rtlCol="0" anchor="ctr"/>
          <a:lstStyle/>
          <a:p>
            <a:pPr indent="0" marL="0">
              <a:buNone/>
            </a:pPr>
            <a:r>
              <a:rPr lang="en-US" sz="1500" b="1" dirty="0">
                <a:solidFill>
                  <a:schemeClr val="tx2"/>
                </a:solidFill>
              </a:rPr>
              <a:t>EHR</a:t>
            </a:r>
            <a:endParaRPr lang="en-US" sz="1500" dirty="0"/>
          </a:p>
        </p:txBody>
      </p:sp>
      <p:sp>
        <p:nvSpPr>
          <p:cNvPr id="14" name="feature body 2"/>
          <p:cNvSpPr txBox="1"/>
          <p:nvPr/>
        </p:nvSpPr>
        <p:spPr>
          <a:xfrm>
            <a:off x="1371600" y="3264408"/>
            <a:ext cx="2286000" cy="274320"/>
          </a:xfrm>
          <a:prstGeom prst="rect">
            <a:avLst/>
          </a:prstGeom>
          <a:noFill/>
          <a:ln/>
        </p:spPr>
        <p:txBody>
          <a:bodyPr wrap="square" lIns="0" tIns="0" rIns="0" bIns="0" rtlCol="0" anchor="ctr"/>
          <a:lstStyle/>
          <a:p>
            <a:pPr indent="0" marL="0">
              <a:buNone/>
            </a:pPr>
            <a:r>
              <a:rPr lang="en-US" sz="1200" dirty="0">
                <a:solidFill>
                  <a:schemeClr val="tx1"/>
                </a:solidFill>
              </a:rPr>
              <a:t>HbA1c, BMI, meds, genes</a:t>
            </a:r>
            <a:endParaRPr lang="en-US" sz="1200" dirty="0"/>
          </a:p>
        </p:txBody>
      </p:sp>
      <p:sp>
        <p:nvSpPr>
          <p:cNvPr id="15" name="feature card 3"/>
          <p:cNvSpPr/>
          <p:nvPr/>
        </p:nvSpPr>
        <p:spPr>
          <a:xfrm>
            <a:off x="457200" y="3749040"/>
            <a:ext cx="3291840" cy="731520"/>
          </a:xfrm>
          <a:prstGeom prst="roundRect">
            <a:avLst>
              <a:gd name="adj" fmla="val 150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6" name="feature n 3"/>
          <p:cNvSpPr txBox="1"/>
          <p:nvPr/>
        </p:nvSpPr>
        <p:spPr>
          <a:xfrm>
            <a:off x="594360" y="3822192"/>
            <a:ext cx="731520" cy="58521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17" name="feature head 3"/>
          <p:cNvSpPr txBox="1"/>
          <p:nvPr/>
        </p:nvSpPr>
        <p:spPr>
          <a:xfrm>
            <a:off x="1371600" y="3840480"/>
            <a:ext cx="2286000" cy="274320"/>
          </a:xfrm>
          <a:prstGeom prst="rect">
            <a:avLst/>
          </a:prstGeom>
          <a:noFill/>
          <a:ln/>
        </p:spPr>
        <p:txBody>
          <a:bodyPr wrap="square" lIns="0" tIns="0" rIns="0" bIns="0" rtlCol="0" anchor="ctr"/>
          <a:lstStyle/>
          <a:p>
            <a:pPr indent="0" marL="0">
              <a:buNone/>
            </a:pPr>
            <a:r>
              <a:rPr lang="en-US" sz="1500" b="1" dirty="0">
                <a:solidFill>
                  <a:schemeClr val="tx2"/>
                </a:solidFill>
              </a:rPr>
              <a:t>Time</a:t>
            </a:r>
            <a:endParaRPr lang="en-US" sz="1500" dirty="0"/>
          </a:p>
        </p:txBody>
      </p:sp>
      <p:sp>
        <p:nvSpPr>
          <p:cNvPr id="18" name="feature body 3"/>
          <p:cNvSpPr txBox="1"/>
          <p:nvPr/>
        </p:nvSpPr>
        <p:spPr>
          <a:xfrm>
            <a:off x="1371600" y="4133088"/>
            <a:ext cx="2286000" cy="274320"/>
          </a:xfrm>
          <a:prstGeom prst="rect">
            <a:avLst/>
          </a:prstGeom>
          <a:noFill/>
          <a:ln/>
        </p:spPr>
        <p:txBody>
          <a:bodyPr wrap="square" lIns="0" tIns="0" rIns="0" bIns="0" rtlCol="0" anchor="ctr"/>
          <a:lstStyle/>
          <a:p>
            <a:pPr indent="0" marL="0">
              <a:buNone/>
            </a:pPr>
            <a:r>
              <a:rPr lang="en-US" sz="1200" dirty="0">
                <a:solidFill>
                  <a:schemeClr val="tx1"/>
                </a:solidFill>
              </a:rPr>
              <a:t>time of day, weekend</a:t>
            </a:r>
            <a:endParaRPr lang="en-US" sz="1200" dirty="0"/>
          </a:p>
        </p:txBody>
      </p:sp>
      <p:sp>
        <p:nvSpPr>
          <p:cNvPr id="19" name="job 0 circle"/>
          <p:cNvSpPr/>
          <p:nvPr/>
        </p:nvSpPr>
        <p:spPr>
          <a:xfrm>
            <a:off x="4114800" y="1188720"/>
            <a:ext cx="594360" cy="594360"/>
          </a:xfrm>
          <a:prstGeom prst="ellipse">
            <a:avLst/>
          </a:prstGeom>
          <a:solidFill>
            <a:srgbClr val="DC2626"/>
          </a:solidFill>
          <a:ln w="12700">
            <a:solidFill>
              <a:srgbClr val="DC2626"/>
            </a:solidFill>
            <a:prstDash val="solid"/>
          </a:ln>
        </p:spPr>
      </p:sp>
      <p:pic>
        <p:nvPicPr>
          <p:cNvPr id="20" name="job 0 icon" descr="preencoded.png">    </p:cNvPr>
          <p:cNvPicPr>
            <a:picLocks noChangeAspect="1"/>
          </p:cNvPicPr>
          <p:nvPr/>
        </p:nvPicPr>
        <p:blipFill>
          <a:blip r:embed="rId1"/>
          <a:stretch>
            <a:fillRect/>
          </a:stretch>
        </p:blipFill>
        <p:spPr>
          <a:xfrm>
            <a:off x="4257446" y="1331366"/>
            <a:ext cx="309067" cy="309067"/>
          </a:xfrm>
          <a:prstGeom prst="rect">
            <a:avLst/>
          </a:prstGeom>
        </p:spPr>
      </p:pic>
      <p:sp>
        <p:nvSpPr>
          <p:cNvPr id="21" name="job head 0"/>
          <p:cNvSpPr txBox="1"/>
          <p:nvPr/>
        </p:nvSpPr>
        <p:spPr>
          <a:xfrm>
            <a:off x="4892040" y="1170432"/>
            <a:ext cx="3794760" cy="320040"/>
          </a:xfrm>
          <a:prstGeom prst="rect">
            <a:avLst/>
          </a:prstGeom>
          <a:noFill/>
          <a:ln/>
        </p:spPr>
        <p:txBody>
          <a:bodyPr wrap="square" lIns="0" tIns="0" rIns="0" bIns="0" rtlCol="0" anchor="ctr"/>
          <a:lstStyle/>
          <a:p>
            <a:pPr indent="0" marL="0">
              <a:buNone/>
            </a:pPr>
            <a:r>
              <a:rPr lang="en-US" sz="1600" b="1" dirty="0">
                <a:solidFill>
                  <a:schemeClr val="tx2"/>
                </a:solidFill>
              </a:rPr>
              <a:t>Spike classifier</a:t>
            </a:r>
            <a:endParaRPr lang="en-US" sz="1600" dirty="0"/>
          </a:p>
        </p:txBody>
      </p:sp>
      <p:sp>
        <p:nvSpPr>
          <p:cNvPr id="22" name="job body 0"/>
          <p:cNvSpPr txBox="1"/>
          <p:nvPr/>
        </p:nvSpPr>
        <p:spPr>
          <a:xfrm>
            <a:off x="4892040" y="1490472"/>
            <a:ext cx="3794760" cy="685800"/>
          </a:xfrm>
          <a:prstGeom prst="rect">
            <a:avLst/>
          </a:prstGeom>
          <a:noFill/>
          <a:ln/>
        </p:spPr>
        <p:txBody>
          <a:bodyPr wrap="square" lIns="0" tIns="0" rIns="0" bIns="0" rtlCol="0" anchor="ctr"/>
          <a:lstStyle/>
          <a:p>
            <a:pPr indent="0" marL="0">
              <a:buNone/>
            </a:pPr>
            <a:r>
              <a:rPr lang="en-US" sz="1300" dirty="0">
                <a:solidFill>
                  <a:schemeClr val="tx1"/>
                </a:solidFill>
              </a:rPr>
              <a:t>LightGBM: P(glucose &gt; 180 within 2 h). Threshold set for ≥ 85% sensitivity on validation patients</a:t>
            </a:r>
            <a:endParaRPr lang="en-US" sz="1300" dirty="0"/>
          </a:p>
        </p:txBody>
      </p:sp>
      <p:sp>
        <p:nvSpPr>
          <p:cNvPr id="23" name="job 1 circle"/>
          <p:cNvSpPr/>
          <p:nvPr/>
        </p:nvSpPr>
        <p:spPr>
          <a:xfrm>
            <a:off x="4114800" y="2331720"/>
            <a:ext cx="594360" cy="594360"/>
          </a:xfrm>
          <a:prstGeom prst="ellipse">
            <a:avLst/>
          </a:prstGeom>
          <a:solidFill>
            <a:srgbClr val="D97706"/>
          </a:solidFill>
          <a:ln w="12700">
            <a:solidFill>
              <a:srgbClr val="D97706"/>
            </a:solidFill>
            <a:prstDash val="solid"/>
          </a:ln>
        </p:spPr>
      </p:sp>
      <p:pic>
        <p:nvPicPr>
          <p:cNvPr id="24" name="job 1 icon" descr="preencoded.png">    </p:cNvPr>
          <p:cNvPicPr>
            <a:picLocks noChangeAspect="1"/>
          </p:cNvPicPr>
          <p:nvPr/>
        </p:nvPicPr>
        <p:blipFill>
          <a:blip r:embed="rId2"/>
          <a:stretch>
            <a:fillRect/>
          </a:stretch>
        </p:blipFill>
        <p:spPr>
          <a:xfrm>
            <a:off x="4257446" y="2474366"/>
            <a:ext cx="309067" cy="309067"/>
          </a:xfrm>
          <a:prstGeom prst="rect">
            <a:avLst/>
          </a:prstGeom>
        </p:spPr>
      </p:pic>
      <p:sp>
        <p:nvSpPr>
          <p:cNvPr id="25" name="job head 1"/>
          <p:cNvSpPr txBox="1"/>
          <p:nvPr/>
        </p:nvSpPr>
        <p:spPr>
          <a:xfrm>
            <a:off x="4892040" y="2313432"/>
            <a:ext cx="3794760" cy="320040"/>
          </a:xfrm>
          <a:prstGeom prst="rect">
            <a:avLst/>
          </a:prstGeom>
          <a:noFill/>
          <a:ln/>
        </p:spPr>
        <p:txBody>
          <a:bodyPr wrap="square" lIns="0" tIns="0" rIns="0" bIns="0" rtlCol="0" anchor="ctr"/>
          <a:lstStyle/>
          <a:p>
            <a:pPr indent="0" marL="0">
              <a:buNone/>
            </a:pPr>
            <a:r>
              <a:rPr lang="en-US" sz="1600" b="1" dirty="0">
                <a:solidFill>
                  <a:schemeClr val="tx2"/>
                </a:solidFill>
              </a:rPr>
              <a:t>Glucose forecaster</a:t>
            </a:r>
            <a:endParaRPr lang="en-US" sz="1600" dirty="0"/>
          </a:p>
        </p:txBody>
      </p:sp>
      <p:sp>
        <p:nvSpPr>
          <p:cNvPr id="26" name="job body 1"/>
          <p:cNvSpPr txBox="1"/>
          <p:nvPr/>
        </p:nvSpPr>
        <p:spPr>
          <a:xfrm>
            <a:off x="4892040" y="2633472"/>
            <a:ext cx="3794760" cy="685800"/>
          </a:xfrm>
          <a:prstGeom prst="rect">
            <a:avLst/>
          </a:prstGeom>
          <a:noFill/>
          <a:ln/>
        </p:spPr>
        <p:txBody>
          <a:bodyPr wrap="square" lIns="0" tIns="0" rIns="0" bIns="0" rtlCol="0" anchor="ctr"/>
          <a:lstStyle/>
          <a:p>
            <a:pPr indent="0" marL="0">
              <a:buNone/>
            </a:pPr>
            <a:r>
              <a:rPr lang="en-US" sz="1300" dirty="0">
                <a:solidFill>
                  <a:schemeClr val="tx1"/>
                </a:solidFill>
              </a:rPr>
              <a:t>12 quantile models: +30/60/90/120 min, median + 80% band</a:t>
            </a:r>
            <a:endParaRPr lang="en-US" sz="1300" dirty="0"/>
          </a:p>
        </p:txBody>
      </p:sp>
      <p:sp>
        <p:nvSpPr>
          <p:cNvPr id="27" name="job 2 circle"/>
          <p:cNvSpPr/>
          <p:nvPr/>
        </p:nvSpPr>
        <p:spPr>
          <a:xfrm>
            <a:off x="4114800" y="3474720"/>
            <a:ext cx="594360" cy="594360"/>
          </a:xfrm>
          <a:prstGeom prst="ellipse">
            <a:avLst/>
          </a:prstGeom>
          <a:solidFill>
            <a:srgbClr val="4F46E5"/>
          </a:solidFill>
          <a:ln w="12700">
            <a:solidFill>
              <a:srgbClr val="4F46E5"/>
            </a:solidFill>
            <a:prstDash val="solid"/>
          </a:ln>
        </p:spPr>
      </p:sp>
      <p:pic>
        <p:nvPicPr>
          <p:cNvPr id="28" name="job 2 icon" descr="preencoded.png">    </p:cNvPr>
          <p:cNvPicPr>
            <a:picLocks noChangeAspect="1"/>
          </p:cNvPicPr>
          <p:nvPr/>
        </p:nvPicPr>
        <p:blipFill>
          <a:blip r:embed="rId3"/>
          <a:stretch>
            <a:fillRect/>
          </a:stretch>
        </p:blipFill>
        <p:spPr>
          <a:xfrm>
            <a:off x="4257446" y="3617366"/>
            <a:ext cx="309067" cy="309067"/>
          </a:xfrm>
          <a:prstGeom prst="rect">
            <a:avLst/>
          </a:prstGeom>
        </p:spPr>
      </p:pic>
      <p:sp>
        <p:nvSpPr>
          <p:cNvPr id="29" name="job head 2"/>
          <p:cNvSpPr txBox="1"/>
          <p:nvPr/>
        </p:nvSpPr>
        <p:spPr>
          <a:xfrm>
            <a:off x="4892040" y="3456432"/>
            <a:ext cx="3794760" cy="320040"/>
          </a:xfrm>
          <a:prstGeom prst="rect">
            <a:avLst/>
          </a:prstGeom>
          <a:noFill/>
          <a:ln/>
        </p:spPr>
        <p:txBody>
          <a:bodyPr wrap="square" lIns="0" tIns="0" rIns="0" bIns="0" rtlCol="0" anchor="ctr"/>
          <a:lstStyle/>
          <a:p>
            <a:pPr indent="0" marL="0">
              <a:buNone/>
            </a:pPr>
            <a:r>
              <a:rPr lang="en-US" sz="1600" b="1" dirty="0">
                <a:solidFill>
                  <a:schemeClr val="tx2"/>
                </a:solidFill>
              </a:rPr>
              <a:t>Explanations</a:t>
            </a:r>
            <a:endParaRPr lang="en-US" sz="1600" dirty="0"/>
          </a:p>
        </p:txBody>
      </p:sp>
      <p:sp>
        <p:nvSpPr>
          <p:cNvPr id="30" name="job body 2"/>
          <p:cNvSpPr txBox="1"/>
          <p:nvPr/>
        </p:nvSpPr>
        <p:spPr>
          <a:xfrm>
            <a:off x="4892040" y="3776472"/>
            <a:ext cx="3794760" cy="685800"/>
          </a:xfrm>
          <a:prstGeom prst="rect">
            <a:avLst/>
          </a:prstGeom>
          <a:noFill/>
          <a:ln/>
        </p:spPr>
        <p:txBody>
          <a:bodyPr wrap="square" lIns="0" tIns="0" rIns="0" bIns="0" rtlCol="0" anchor="ctr"/>
          <a:lstStyle/>
          <a:p>
            <a:pPr indent="0" marL="0">
              <a:buNone/>
            </a:pPr>
            <a:r>
              <a:rPr lang="en-US" sz="1300" dirty="0">
                <a:solidFill>
                  <a:schemeClr val="tx1"/>
                </a:solidFill>
              </a:rPr>
              <a:t>TreeSHAP contributions grouped into plain words: "carbs logged", "short sleep"</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twin: small, explainable physiology</a:t>
            </a:r>
            <a:endParaRPr lang="en-US" sz="3000" dirty="0"/>
          </a:p>
        </p:txBody>
      </p:sp>
      <p:sp>
        <p:nvSpPr>
          <p:cNvPr id="3" name="equation card"/>
          <p:cNvSpPr/>
          <p:nvPr/>
        </p:nvSpPr>
        <p:spPr>
          <a:xfrm>
            <a:off x="457200" y="1143000"/>
            <a:ext cx="4572000" cy="2103120"/>
          </a:xfrm>
          <a:prstGeom prst="roundRect">
            <a:avLst>
              <a:gd name="adj" fmla="val 5217"/>
            </a:avLst>
          </a:prstGeom>
          <a:solidFill>
            <a:srgbClr val="0B3B37"/>
          </a:solidFill>
          <a:ln w="12700">
            <a:solidFill>
              <a:srgbClr val="0B3B37"/>
            </a:solidFill>
            <a:prstDash val="solid"/>
          </a:ln>
          <a:effectLst>
            <a:outerShdw sx="100000" sy="100000" kx="0" ky="0" algn="bl" rotWithShape="0" blurRad="76200" dist="25400" dir="5400000">
              <a:srgbClr val="94A3B8">
                <a:alpha val="25000"/>
              </a:srgbClr>
            </a:outerShdw>
          </a:effectLst>
        </p:spPr>
      </p:sp>
      <p:sp>
        <p:nvSpPr>
          <p:cNvPr id="4" name="equation"/>
          <p:cNvSpPr txBox="1"/>
          <p:nvPr/>
        </p:nvSpPr>
        <p:spPr>
          <a:xfrm>
            <a:off x="685800" y="1280160"/>
            <a:ext cx="4206240" cy="1828800"/>
          </a:xfrm>
          <a:prstGeom prst="rect">
            <a:avLst/>
          </a:prstGeom>
          <a:noFill/>
          <a:ln/>
        </p:spPr>
        <p:txBody>
          <a:bodyPr wrap="square" lIns="0" tIns="0" rIns="0" bIns="0" rtlCol="0" anchor="ctr"/>
          <a:lstStyle/>
          <a:p>
            <a:pPr indent="0" marL="0">
              <a:spcAft>
                <a:spcPts val="800"/>
              </a:spcAft>
              <a:buNone/>
            </a:pPr>
            <a:r>
              <a:rPr lang="en-US" sz="1300" dirty="0">
                <a:solidFill>
                  <a:srgbClr val="CCFBF1"/>
                </a:solidFill>
                <a:latin typeface="Courier New" pitchFamily="34" charset="0"/>
                <a:ea typeface="Courier New" pitchFamily="34" charset="-122"/>
                <a:cs typeface="Courier New" pitchFamily="34" charset="-120"/>
              </a:rPr>
              <a:t>carbs → gut (2 stages) → blood</a:t>
            </a:r>
            <a:endParaRPr lang="en-US" sz="1300" dirty="0"/>
          </a:p>
          <a:p>
            <a:pPr indent="0" marL="0">
              <a:spcAft>
                <a:spcPts val="800"/>
              </a:spcAft>
              <a:buNone/>
            </a:pPr>
            <a:r>
              <a:rPr lang="en-US" sz="1300" b="1" dirty="0">
                <a:solidFill>
                  <a:srgbClr val="CCFBF1"/>
                </a:solidFill>
                <a:latin typeface="Courier New" pitchFamily="34" charset="0"/>
                <a:ea typeface="Courier New" pitchFamily="34" charset="-122"/>
                <a:cs typeface="Courier New" pitchFamily="34" charset="-120"/>
              </a:rPr>
              <a:t>dG/dt = cf·Ra − k·S·(G − Gb) − exercise + stress</a:t>
            </a:r>
            <a:endParaRPr lang="en-US" sz="1300" dirty="0"/>
          </a:p>
          <a:p>
            <a:pPr indent="0" marL="0">
              <a:spcAft>
                <a:spcPts val="800"/>
              </a:spcAft>
              <a:buNone/>
            </a:pPr>
            <a:r>
              <a:rPr lang="en-US" sz="1300" dirty="0">
                <a:solidFill>
                  <a:srgbClr val="CCFBF1"/>
                </a:solidFill>
                <a:latin typeface="Courier New" pitchFamily="34" charset="0"/>
                <a:ea typeface="Courier New" pitchFamily="34" charset="-122"/>
                <a:cs typeface="Courier New" pitchFamily="34" charset="-120"/>
              </a:rPr>
              <a:t>S changes with: evening dip · sleep debt · walking</a:t>
            </a:r>
            <a:endParaRPr lang="en-US" sz="1300" dirty="0"/>
          </a:p>
          <a:p>
            <a:pPr indent="0" marL="0">
              <a:spcAft>
                <a:spcPts val="800"/>
              </a:spcAft>
              <a:buNone/>
            </a:pPr>
            <a:r>
              <a:rPr lang="en-US" sz="1300" dirty="0">
                <a:solidFill>
                  <a:srgbClr val="CCFBF1"/>
                </a:solidFill>
                <a:latin typeface="Courier New" pitchFamily="34" charset="0"/>
                <a:ea typeface="Courier New" pitchFamily="34" charset="-122"/>
                <a:cs typeface="Courier New" pitchFamily="34" charset="-120"/>
              </a:rPr>
              <a:t>Gb rises with the dawn phenomenon (4–8 am)</a:t>
            </a:r>
            <a:endParaRPr lang="en-US" sz="1300" dirty="0"/>
          </a:p>
        </p:txBody>
      </p:sp>
      <p:sp>
        <p:nvSpPr>
          <p:cNvPr id="5" name="step circle 0"/>
          <p:cNvSpPr/>
          <p:nvPr/>
        </p:nvSpPr>
        <p:spPr>
          <a:xfrm>
            <a:off x="5349240" y="1188720"/>
            <a:ext cx="457200" cy="457200"/>
          </a:xfrm>
          <a:prstGeom prst="ellipse">
            <a:avLst/>
          </a:prstGeom>
          <a:solidFill>
            <a:srgbClr val="0F766E"/>
          </a:solidFill>
          <a:ln w="12700">
            <a:solidFill>
              <a:srgbClr val="0F766E"/>
            </a:solidFill>
            <a:prstDash val="solid"/>
          </a:ln>
        </p:spPr>
      </p:sp>
      <p:sp>
        <p:nvSpPr>
          <p:cNvPr id="6" name="step n 0"/>
          <p:cNvSpPr txBox="1"/>
          <p:nvPr/>
        </p:nvSpPr>
        <p:spPr>
          <a:xfrm>
            <a:off x="534924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head 0"/>
          <p:cNvSpPr txBox="1"/>
          <p:nvPr/>
        </p:nvSpPr>
        <p:spPr>
          <a:xfrm>
            <a:off x="5943600" y="1161288"/>
            <a:ext cx="2743200" cy="256032"/>
          </a:xfrm>
          <a:prstGeom prst="rect">
            <a:avLst/>
          </a:prstGeom>
          <a:noFill/>
          <a:ln/>
        </p:spPr>
        <p:txBody>
          <a:bodyPr wrap="square" lIns="0" tIns="0" rIns="0" bIns="0" rtlCol="0" anchor="ctr"/>
          <a:lstStyle/>
          <a:p>
            <a:pPr indent="0" marL="0">
              <a:buNone/>
            </a:pPr>
            <a:r>
              <a:rPr lang="en-US" sz="1500" b="1" dirty="0">
                <a:solidFill>
                  <a:schemeClr val="tx2"/>
                </a:solidFill>
              </a:rPr>
              <a:t>EHR prior</a:t>
            </a:r>
            <a:endParaRPr lang="en-US" sz="1500" dirty="0"/>
          </a:p>
        </p:txBody>
      </p:sp>
      <p:sp>
        <p:nvSpPr>
          <p:cNvPr id="8" name="step body 0"/>
          <p:cNvSpPr txBox="1"/>
          <p:nvPr/>
        </p:nvSpPr>
        <p:spPr>
          <a:xfrm>
            <a:off x="5943600" y="1417320"/>
            <a:ext cx="2743200" cy="384048"/>
          </a:xfrm>
          <a:prstGeom prst="rect">
            <a:avLst/>
          </a:prstGeom>
          <a:noFill/>
          <a:ln/>
        </p:spPr>
        <p:txBody>
          <a:bodyPr wrap="square" lIns="0" tIns="0" rIns="0" bIns="0" rtlCol="0" anchor="ctr"/>
          <a:lstStyle/>
          <a:p>
            <a:pPr indent="0" marL="0">
              <a:buNone/>
            </a:pPr>
            <a:r>
              <a:rPr lang="en-US" sz="1200" dirty="0">
                <a:solidFill>
                  <a:schemeClr val="tx1"/>
                </a:solidFill>
              </a:rPr>
              <a:t>FPG → basal glucose; BMI, gene, HbA1c → insulin sensitivity</a:t>
            </a:r>
            <a:endParaRPr lang="en-US" sz="1200" dirty="0"/>
          </a:p>
        </p:txBody>
      </p:sp>
      <p:sp>
        <p:nvSpPr>
          <p:cNvPr id="9" name="step circle 1"/>
          <p:cNvSpPr/>
          <p:nvPr/>
        </p:nvSpPr>
        <p:spPr>
          <a:xfrm>
            <a:off x="5349240" y="1874520"/>
            <a:ext cx="457200" cy="457200"/>
          </a:xfrm>
          <a:prstGeom prst="ellipse">
            <a:avLst/>
          </a:prstGeom>
          <a:solidFill>
            <a:srgbClr val="0F766E"/>
          </a:solidFill>
          <a:ln w="12700">
            <a:solidFill>
              <a:srgbClr val="0F766E"/>
            </a:solidFill>
            <a:prstDash val="solid"/>
          </a:ln>
        </p:spPr>
      </p:sp>
      <p:sp>
        <p:nvSpPr>
          <p:cNvPr id="10" name="step n 1"/>
          <p:cNvSpPr txBox="1"/>
          <p:nvPr/>
        </p:nvSpPr>
        <p:spPr>
          <a:xfrm>
            <a:off x="534924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head 1"/>
          <p:cNvSpPr txBox="1"/>
          <p:nvPr/>
        </p:nvSpPr>
        <p:spPr>
          <a:xfrm>
            <a:off x="5943600" y="1847088"/>
            <a:ext cx="2743200" cy="256032"/>
          </a:xfrm>
          <a:prstGeom prst="rect">
            <a:avLst/>
          </a:prstGeom>
          <a:noFill/>
          <a:ln/>
        </p:spPr>
        <p:txBody>
          <a:bodyPr wrap="square" lIns="0" tIns="0" rIns="0" bIns="0" rtlCol="0" anchor="ctr"/>
          <a:lstStyle/>
          <a:p>
            <a:pPr indent="0" marL="0">
              <a:buNone/>
            </a:pPr>
            <a:r>
              <a:rPr lang="en-US" sz="1500" b="1" dirty="0">
                <a:solidFill>
                  <a:schemeClr val="tx2"/>
                </a:solidFill>
              </a:rPr>
              <a:t>Calibrate</a:t>
            </a:r>
            <a:endParaRPr lang="en-US" sz="1500" dirty="0"/>
          </a:p>
        </p:txBody>
      </p:sp>
      <p:sp>
        <p:nvSpPr>
          <p:cNvPr id="12" name="step body 1"/>
          <p:cNvSpPr txBox="1"/>
          <p:nvPr/>
        </p:nvSpPr>
        <p:spPr>
          <a:xfrm>
            <a:off x="5943600" y="2103120"/>
            <a:ext cx="2743200" cy="384048"/>
          </a:xfrm>
          <a:prstGeom prst="rect">
            <a:avLst/>
          </a:prstGeom>
          <a:noFill/>
          <a:ln/>
        </p:spPr>
        <p:txBody>
          <a:bodyPr wrap="square" lIns="0" tIns="0" rIns="0" bIns="0" rtlCol="0" anchor="ctr"/>
          <a:lstStyle/>
          <a:p>
            <a:pPr indent="0" marL="0">
              <a:buNone/>
            </a:pPr>
            <a:r>
              <a:rPr lang="en-US" sz="1200" dirty="0">
                <a:solidFill>
                  <a:schemeClr val="tx1"/>
                </a:solidFill>
              </a:rPr>
              <a:t>Fit to the patient's own post-meal CGM curves (5 days)</a:t>
            </a:r>
            <a:endParaRPr lang="en-US" sz="1200" dirty="0"/>
          </a:p>
        </p:txBody>
      </p:sp>
      <p:sp>
        <p:nvSpPr>
          <p:cNvPr id="13" name="step circle 2"/>
          <p:cNvSpPr/>
          <p:nvPr/>
        </p:nvSpPr>
        <p:spPr>
          <a:xfrm>
            <a:off x="5349240" y="2560320"/>
            <a:ext cx="457200" cy="457200"/>
          </a:xfrm>
          <a:prstGeom prst="ellipse">
            <a:avLst/>
          </a:prstGeom>
          <a:solidFill>
            <a:srgbClr val="0F766E"/>
          </a:solidFill>
          <a:ln w="12700">
            <a:solidFill>
              <a:srgbClr val="0F766E"/>
            </a:solidFill>
            <a:prstDash val="solid"/>
          </a:ln>
        </p:spPr>
      </p:sp>
      <p:sp>
        <p:nvSpPr>
          <p:cNvPr id="14" name="step n 2"/>
          <p:cNvSpPr txBox="1"/>
          <p:nvPr/>
        </p:nvSpPr>
        <p:spPr>
          <a:xfrm>
            <a:off x="534924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head 2"/>
          <p:cNvSpPr txBox="1"/>
          <p:nvPr/>
        </p:nvSpPr>
        <p:spPr>
          <a:xfrm>
            <a:off x="5943600" y="2532888"/>
            <a:ext cx="2743200" cy="256032"/>
          </a:xfrm>
          <a:prstGeom prst="rect">
            <a:avLst/>
          </a:prstGeom>
          <a:noFill/>
          <a:ln/>
        </p:spPr>
        <p:txBody>
          <a:bodyPr wrap="square" lIns="0" tIns="0" rIns="0" bIns="0" rtlCol="0" anchor="ctr"/>
          <a:lstStyle/>
          <a:p>
            <a:pPr indent="0" marL="0">
              <a:buNone/>
            </a:pPr>
            <a:r>
              <a:rPr lang="en-US" sz="1500" b="1" dirty="0">
                <a:solidFill>
                  <a:schemeClr val="tx2"/>
                </a:solidFill>
              </a:rPr>
              <a:t>Simulate</a:t>
            </a:r>
            <a:endParaRPr lang="en-US" sz="1500" dirty="0"/>
          </a:p>
        </p:txBody>
      </p:sp>
      <p:sp>
        <p:nvSpPr>
          <p:cNvPr id="16" name="step body 2"/>
          <p:cNvSpPr txBox="1"/>
          <p:nvPr/>
        </p:nvSpPr>
        <p:spPr>
          <a:xfrm>
            <a:off x="5943600" y="2788920"/>
            <a:ext cx="2743200" cy="384048"/>
          </a:xfrm>
          <a:prstGeom prst="rect">
            <a:avLst/>
          </a:prstGeom>
          <a:noFill/>
          <a:ln/>
        </p:spPr>
        <p:txBody>
          <a:bodyPr wrap="square" lIns="0" tIns="0" rIns="0" bIns="0" rtlCol="0" anchor="ctr"/>
          <a:lstStyle/>
          <a:p>
            <a:pPr indent="0" marL="0">
              <a:buNone/>
            </a:pPr>
            <a:r>
              <a:rPr lang="en-US" sz="1200" dirty="0">
                <a:solidFill>
                  <a:schemeClr val="tx1"/>
                </a:solidFill>
              </a:rPr>
              <a:t>Run the next 24 h under a doctor's what-if scenario</a:t>
            </a:r>
            <a:endParaRPr lang="en-US" sz="1200" dirty="0"/>
          </a:p>
        </p:txBody>
      </p:sp>
      <p:sp>
        <p:nvSpPr>
          <p:cNvPr id="17" name="cal stat 0"/>
          <p:cNvSpPr txBox="1"/>
          <p:nvPr/>
        </p:nvSpPr>
        <p:spPr>
          <a:xfrm>
            <a:off x="457200" y="3520440"/>
            <a:ext cx="265176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0.52 → 0.63</a:t>
            </a:r>
            <a:endParaRPr lang="en-US" sz="2800" dirty="0"/>
          </a:p>
        </p:txBody>
      </p:sp>
      <p:sp>
        <p:nvSpPr>
          <p:cNvPr id="18" name="cal label 0"/>
          <p:cNvSpPr txBox="1"/>
          <p:nvPr/>
        </p:nvSpPr>
        <p:spPr>
          <a:xfrm>
            <a:off x="457200" y="4069080"/>
            <a:ext cx="2560320" cy="502920"/>
          </a:xfrm>
          <a:prstGeom prst="rect">
            <a:avLst/>
          </a:prstGeom>
          <a:noFill/>
          <a:ln/>
        </p:spPr>
        <p:txBody>
          <a:bodyPr wrap="square" lIns="0" tIns="0" rIns="0" bIns="0" rtlCol="0" anchor="ctr"/>
          <a:lstStyle/>
          <a:p>
            <a:pPr indent="0" marL="0">
              <a:buNone/>
            </a:pPr>
            <a:r>
              <a:rPr lang="en-US" sz="1200" dirty="0">
                <a:solidFill>
                  <a:schemeClr val="accent6"/>
                </a:solidFill>
              </a:rPr>
              <a:t>insulin sensitivity: correlation with hidden truth</a:t>
            </a:r>
            <a:endParaRPr lang="en-US" sz="1200" dirty="0"/>
          </a:p>
        </p:txBody>
      </p:sp>
      <p:sp>
        <p:nvSpPr>
          <p:cNvPr id="19" name="cal stat 1"/>
          <p:cNvSpPr txBox="1"/>
          <p:nvPr/>
        </p:nvSpPr>
        <p:spPr>
          <a:xfrm>
            <a:off x="3246120" y="3520440"/>
            <a:ext cx="265176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0.84 → 0.88</a:t>
            </a:r>
            <a:endParaRPr lang="en-US" sz="2800" dirty="0"/>
          </a:p>
        </p:txBody>
      </p:sp>
      <p:sp>
        <p:nvSpPr>
          <p:cNvPr id="20" name="cal label 1"/>
          <p:cNvSpPr txBox="1"/>
          <p:nvPr/>
        </p:nvSpPr>
        <p:spPr>
          <a:xfrm>
            <a:off x="3246120" y="4069080"/>
            <a:ext cx="2560320" cy="502920"/>
          </a:xfrm>
          <a:prstGeom prst="rect">
            <a:avLst/>
          </a:prstGeom>
          <a:noFill/>
          <a:ln/>
        </p:spPr>
        <p:txBody>
          <a:bodyPr wrap="square" lIns="0" tIns="0" rIns="0" bIns="0" rtlCol="0" anchor="ctr"/>
          <a:lstStyle/>
          <a:p>
            <a:pPr indent="0" marL="0">
              <a:buNone/>
            </a:pPr>
            <a:r>
              <a:rPr lang="en-US" sz="1200" dirty="0">
                <a:solidFill>
                  <a:schemeClr val="accent6"/>
                </a:solidFill>
              </a:rPr>
              <a:t>basal glucose: correlation with hidden truth</a:t>
            </a:r>
            <a:endParaRPr lang="en-US" sz="1200" dirty="0"/>
          </a:p>
        </p:txBody>
      </p:sp>
      <p:sp>
        <p:nvSpPr>
          <p:cNvPr id="21" name="cal stat 2"/>
          <p:cNvSpPr txBox="1"/>
          <p:nvPr/>
        </p:nvSpPr>
        <p:spPr>
          <a:xfrm>
            <a:off x="6035040" y="3520440"/>
            <a:ext cx="265176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67%</a:t>
            </a:r>
            <a:endParaRPr lang="en-US" sz="2800" dirty="0"/>
          </a:p>
        </p:txBody>
      </p:sp>
      <p:sp>
        <p:nvSpPr>
          <p:cNvPr id="22" name="cal label 2"/>
          <p:cNvSpPr txBox="1"/>
          <p:nvPr/>
        </p:nvSpPr>
        <p:spPr>
          <a:xfrm>
            <a:off x="6035040" y="4069080"/>
            <a:ext cx="2560320" cy="502920"/>
          </a:xfrm>
          <a:prstGeom prst="rect">
            <a:avLst/>
          </a:prstGeom>
          <a:noFill/>
          <a:ln/>
        </p:spPr>
        <p:txBody>
          <a:bodyPr wrap="square" lIns="0" tIns="0" rIns="0" bIns="0" rtlCol="0" anchor="ctr"/>
          <a:lstStyle/>
          <a:p>
            <a:pPr indent="0" marL="0">
              <a:buNone/>
            </a:pPr>
            <a:r>
              <a:rPr lang="en-US" sz="1200" dirty="0">
                <a:solidFill>
                  <a:schemeClr val="accent6"/>
                </a:solidFill>
              </a:rPr>
              <a:t>patients with a better fit on 2 held-out days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Results on 24 patients the model never saw</a:t>
            </a:r>
            <a:endParaRPr lang="en-US" sz="3000" dirty="0"/>
          </a:p>
        </p:txBody>
      </p:sp>
      <p:sp>
        <p:nvSpPr>
          <p:cNvPr id="3" name="kpi 0"/>
          <p:cNvSpPr txBox="1"/>
          <p:nvPr/>
        </p:nvSpPr>
        <p:spPr>
          <a:xfrm>
            <a:off x="457200" y="1143000"/>
            <a:ext cx="17373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0.95</a:t>
            </a:r>
            <a:endParaRPr lang="en-US" sz="3000" dirty="0"/>
          </a:p>
        </p:txBody>
      </p:sp>
      <p:sp>
        <p:nvSpPr>
          <p:cNvPr id="4" name="kpi label 0"/>
          <p:cNvSpPr txBox="1"/>
          <p:nvPr/>
        </p:nvSpPr>
        <p:spPr>
          <a:xfrm>
            <a:off x="2240280" y="1188720"/>
            <a:ext cx="1463040" cy="548640"/>
          </a:xfrm>
          <a:prstGeom prst="rect">
            <a:avLst/>
          </a:prstGeom>
          <a:noFill/>
          <a:ln/>
        </p:spPr>
        <p:txBody>
          <a:bodyPr wrap="square" lIns="0" tIns="0" rIns="0" bIns="0" rtlCol="0" anchor="ctr"/>
          <a:lstStyle/>
          <a:p>
            <a:pPr indent="0" marL="0">
              <a:buNone/>
            </a:pPr>
            <a:r>
              <a:rPr lang="en-US" sz="1300" dirty="0">
                <a:solidFill>
                  <a:schemeClr val="tx1"/>
                </a:solidFill>
              </a:rPr>
              <a:t>AUROC</a:t>
            </a:r>
            <a:endParaRPr lang="en-US" sz="1300" dirty="0"/>
          </a:p>
        </p:txBody>
      </p:sp>
      <p:sp>
        <p:nvSpPr>
          <p:cNvPr id="5" name="kpi 1"/>
          <p:cNvSpPr txBox="1"/>
          <p:nvPr/>
        </p:nvSpPr>
        <p:spPr>
          <a:xfrm>
            <a:off x="457200" y="2011680"/>
            <a:ext cx="17373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85.6%</a:t>
            </a:r>
            <a:endParaRPr lang="en-US" sz="3000" dirty="0"/>
          </a:p>
        </p:txBody>
      </p:sp>
      <p:sp>
        <p:nvSpPr>
          <p:cNvPr id="6" name="kpi label 1"/>
          <p:cNvSpPr txBox="1"/>
          <p:nvPr/>
        </p:nvSpPr>
        <p:spPr>
          <a:xfrm>
            <a:off x="2240280" y="2057400"/>
            <a:ext cx="1463040" cy="548640"/>
          </a:xfrm>
          <a:prstGeom prst="rect">
            <a:avLst/>
          </a:prstGeom>
          <a:noFill/>
          <a:ln/>
        </p:spPr>
        <p:txBody>
          <a:bodyPr wrap="square" lIns="0" tIns="0" rIns="0" bIns="0" rtlCol="0" anchor="ctr"/>
          <a:lstStyle/>
          <a:p>
            <a:pPr indent="0" marL="0">
              <a:buNone/>
            </a:pPr>
            <a:r>
              <a:rPr lang="en-US" sz="1300" dirty="0">
                <a:solidFill>
                  <a:schemeClr val="tx1"/>
                </a:solidFill>
              </a:rPr>
              <a:t>spikes flagged ≥ 30 min early</a:t>
            </a:r>
            <a:endParaRPr lang="en-US" sz="1300" dirty="0"/>
          </a:p>
        </p:txBody>
      </p:sp>
      <p:sp>
        <p:nvSpPr>
          <p:cNvPr id="7" name="kpi 2"/>
          <p:cNvSpPr txBox="1"/>
          <p:nvPr/>
        </p:nvSpPr>
        <p:spPr>
          <a:xfrm>
            <a:off x="457200" y="2880360"/>
            <a:ext cx="17373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100 min</a:t>
            </a:r>
            <a:endParaRPr lang="en-US" sz="3000" dirty="0"/>
          </a:p>
        </p:txBody>
      </p:sp>
      <p:sp>
        <p:nvSpPr>
          <p:cNvPr id="8" name="kpi label 2"/>
          <p:cNvSpPr txBox="1"/>
          <p:nvPr/>
        </p:nvSpPr>
        <p:spPr>
          <a:xfrm>
            <a:off x="2240280" y="2926080"/>
            <a:ext cx="1463040" cy="548640"/>
          </a:xfrm>
          <a:prstGeom prst="rect">
            <a:avLst/>
          </a:prstGeom>
          <a:noFill/>
          <a:ln/>
        </p:spPr>
        <p:txBody>
          <a:bodyPr wrap="square" lIns="0" tIns="0" rIns="0" bIns="0" rtlCol="0" anchor="ctr"/>
          <a:lstStyle/>
          <a:p>
            <a:pPr indent="0" marL="0">
              <a:buNone/>
            </a:pPr>
            <a:r>
              <a:rPr lang="en-US" sz="1300" dirty="0">
                <a:solidFill>
                  <a:schemeClr val="tx1"/>
                </a:solidFill>
              </a:rPr>
              <a:t>median warning time</a:t>
            </a:r>
            <a:endParaRPr lang="en-US" sz="1300" dirty="0"/>
          </a:p>
        </p:txBody>
      </p:sp>
      <p:sp>
        <p:nvSpPr>
          <p:cNvPr id="9" name="kpi 3"/>
          <p:cNvSpPr txBox="1"/>
          <p:nvPr/>
        </p:nvSpPr>
        <p:spPr>
          <a:xfrm>
            <a:off x="457200" y="3749040"/>
            <a:ext cx="17373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2.15</a:t>
            </a:r>
            <a:endParaRPr lang="en-US" sz="3000" dirty="0"/>
          </a:p>
        </p:txBody>
      </p:sp>
      <p:sp>
        <p:nvSpPr>
          <p:cNvPr id="10" name="kpi label 3"/>
          <p:cNvSpPr txBox="1"/>
          <p:nvPr/>
        </p:nvSpPr>
        <p:spPr>
          <a:xfrm>
            <a:off x="2240280" y="3794760"/>
            <a:ext cx="1463040" cy="548640"/>
          </a:xfrm>
          <a:prstGeom prst="rect">
            <a:avLst/>
          </a:prstGeom>
          <a:noFill/>
          <a:ln/>
        </p:spPr>
        <p:txBody>
          <a:bodyPr wrap="square" lIns="0" tIns="0" rIns="0" bIns="0" rtlCol="0" anchor="ctr"/>
          <a:lstStyle/>
          <a:p>
            <a:pPr indent="0" marL="0">
              <a:buNone/>
            </a:pPr>
            <a:r>
              <a:rPr lang="en-US" sz="1300" dirty="0">
                <a:solidFill>
                  <a:schemeClr val="tx1"/>
                </a:solidFill>
              </a:rPr>
              <a:t>false alarms per patient-day</a:t>
            </a:r>
            <a:endParaRPr lang="en-US" sz="1300" dirty="0"/>
          </a:p>
        </p:txBody>
      </p:sp>
      <p:graphicFrame>
        <p:nvGraphicFramePr>
          <p:cNvPr id="11" name="forecast chart" descr=""/>
          <p:cNvGraphicFramePr/>
          <p:nvPr/>
        </p:nvGraphicFramePr>
        <p:xfrm>
          <a:off x="393192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Does fusing the two streams help?</a:t>
            </a:r>
            <a:endParaRPr lang="en-US" sz="3000" dirty="0"/>
          </a:p>
        </p:txBody>
      </p:sp>
      <p:graphicFrame>
        <p:nvGraphicFramePr>
          <p:cNvPr id="3" name="ablation chart" descr=""/>
          <p:cNvGraphicFramePr/>
          <p:nvPr/>
        </p:nvGraphicFramePr>
        <p:xfrm>
          <a:off x="457200" y="109728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4" name="ablation card 0"/>
          <p:cNvSpPr/>
          <p:nvPr/>
        </p:nvSpPr>
        <p:spPr>
          <a:xfrm>
            <a:off x="5669280" y="1188720"/>
            <a:ext cx="3017520" cy="1005840"/>
          </a:xfrm>
          <a:prstGeom prst="roundRect">
            <a:avLst>
              <a:gd name="adj" fmla="val 10909"/>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5" name="ablation head 0"/>
          <p:cNvSpPr txBox="1"/>
          <p:nvPr/>
        </p:nvSpPr>
        <p:spPr>
          <a:xfrm>
            <a:off x="5852160" y="1280160"/>
            <a:ext cx="2697480" cy="274320"/>
          </a:xfrm>
          <a:prstGeom prst="rect">
            <a:avLst/>
          </a:prstGeom>
          <a:noFill/>
          <a:ln/>
        </p:spPr>
        <p:txBody>
          <a:bodyPr wrap="square" lIns="0" tIns="0" rIns="0" bIns="0" rtlCol="0" anchor="ctr"/>
          <a:lstStyle/>
          <a:p>
            <a:pPr indent="0" marL="0">
              <a:buNone/>
            </a:pPr>
            <a:r>
              <a:rPr lang="en-US" sz="1500" b="1" dirty="0">
                <a:solidFill>
                  <a:schemeClr val="tx2"/>
                </a:solidFill>
              </a:rPr>
              <a:t>Full fusion is best</a:t>
            </a:r>
            <a:endParaRPr lang="en-US" sz="1500" dirty="0"/>
          </a:p>
        </p:txBody>
      </p:sp>
      <p:sp>
        <p:nvSpPr>
          <p:cNvPr id="6" name="ablation body 0"/>
          <p:cNvSpPr txBox="1"/>
          <p:nvPr/>
        </p:nvSpPr>
        <p:spPr>
          <a:xfrm>
            <a:off x="5852160" y="1572768"/>
            <a:ext cx="2697480" cy="566928"/>
          </a:xfrm>
          <a:prstGeom prst="rect">
            <a:avLst/>
          </a:prstGeom>
          <a:noFill/>
          <a:ln/>
        </p:spPr>
        <p:txBody>
          <a:bodyPr wrap="square" lIns="0" tIns="0" rIns="0" bIns="0" rtlCol="0" anchor="ctr"/>
          <a:lstStyle/>
          <a:p>
            <a:pPr indent="0" marL="0">
              <a:buNone/>
            </a:pPr>
            <a:r>
              <a:rPr lang="en-US" sz="1200" dirty="0">
                <a:solidFill>
                  <a:schemeClr val="tx1"/>
                </a:solidFill>
              </a:rPr>
              <a:t>0.912 vs 0.901 for CGM alone</a:t>
            </a:r>
            <a:endParaRPr lang="en-US" sz="1200" dirty="0"/>
          </a:p>
        </p:txBody>
      </p:sp>
      <p:sp>
        <p:nvSpPr>
          <p:cNvPr id="7" name="ablation card 1"/>
          <p:cNvSpPr/>
          <p:nvPr/>
        </p:nvSpPr>
        <p:spPr>
          <a:xfrm>
            <a:off x="5669280" y="2331720"/>
            <a:ext cx="3017520" cy="1005840"/>
          </a:xfrm>
          <a:prstGeom prst="roundRect">
            <a:avLst>
              <a:gd name="adj" fmla="val 10909"/>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8" name="ablation head 1"/>
          <p:cNvSpPr txBox="1"/>
          <p:nvPr/>
        </p:nvSpPr>
        <p:spPr>
          <a:xfrm>
            <a:off x="5852160" y="2423160"/>
            <a:ext cx="2697480" cy="274320"/>
          </a:xfrm>
          <a:prstGeom prst="rect">
            <a:avLst/>
          </a:prstGeom>
          <a:noFill/>
          <a:ln/>
        </p:spPr>
        <p:txBody>
          <a:bodyPr wrap="square" lIns="0" tIns="0" rIns="0" bIns="0" rtlCol="0" anchor="ctr"/>
          <a:lstStyle/>
          <a:p>
            <a:pPr indent="0" marL="0">
              <a:buNone/>
            </a:pPr>
            <a:r>
              <a:rPr lang="en-US" sz="1500" b="1" dirty="0">
                <a:solidFill>
                  <a:schemeClr val="tx2"/>
                </a:solidFill>
              </a:rPr>
              <a:t>Works without a CGM</a:t>
            </a:r>
            <a:endParaRPr lang="en-US" sz="1500" dirty="0"/>
          </a:p>
        </p:txBody>
      </p:sp>
      <p:sp>
        <p:nvSpPr>
          <p:cNvPr id="9" name="ablation body 1"/>
          <p:cNvSpPr txBox="1"/>
          <p:nvPr/>
        </p:nvSpPr>
        <p:spPr>
          <a:xfrm>
            <a:off x="5852160" y="2715768"/>
            <a:ext cx="2697480" cy="566928"/>
          </a:xfrm>
          <a:prstGeom prst="rect">
            <a:avLst/>
          </a:prstGeom>
          <a:noFill/>
          <a:ln/>
        </p:spPr>
        <p:txBody>
          <a:bodyPr wrap="square" lIns="0" tIns="0" rIns="0" bIns="0" rtlCol="0" anchor="ctr"/>
          <a:lstStyle/>
          <a:p>
            <a:pPr indent="0" marL="0">
              <a:buNone/>
            </a:pPr>
            <a:r>
              <a:rPr lang="en-US" sz="1200" dirty="0">
                <a:solidFill>
                  <a:schemeClr val="tx1"/>
                </a:solidFill>
              </a:rPr>
              <a:t>EHR + a basic smartwatch still reach 0.890, useful where CGMs are too costly</a:t>
            </a:r>
            <a:endParaRPr lang="en-US" sz="1200" dirty="0"/>
          </a:p>
        </p:txBody>
      </p:sp>
      <p:sp>
        <p:nvSpPr>
          <p:cNvPr id="10" name="ablation card 2"/>
          <p:cNvSpPr/>
          <p:nvPr/>
        </p:nvSpPr>
        <p:spPr>
          <a:xfrm>
            <a:off x="5669280" y="3474720"/>
            <a:ext cx="3017520" cy="1005840"/>
          </a:xfrm>
          <a:prstGeom prst="roundRect">
            <a:avLst>
              <a:gd name="adj" fmla="val 10909"/>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1" name="ablation head 2"/>
          <p:cNvSpPr txBox="1"/>
          <p:nvPr/>
        </p:nvSpPr>
        <p:spPr>
          <a:xfrm>
            <a:off x="5852160" y="3566160"/>
            <a:ext cx="2697480" cy="274320"/>
          </a:xfrm>
          <a:prstGeom prst="rect">
            <a:avLst/>
          </a:prstGeom>
          <a:noFill/>
          <a:ln/>
        </p:spPr>
        <p:txBody>
          <a:bodyPr wrap="square" lIns="0" tIns="0" rIns="0" bIns="0" rtlCol="0" anchor="ctr"/>
          <a:lstStyle/>
          <a:p>
            <a:pPr indent="0" marL="0">
              <a:buNone/>
            </a:pPr>
            <a:r>
              <a:rPr lang="en-US" sz="1500" b="1" dirty="0">
                <a:solidFill>
                  <a:schemeClr val="accent2"/>
                </a:solidFill>
              </a:rPr>
              <a:t>Honest note</a:t>
            </a:r>
            <a:endParaRPr lang="en-US" sz="1500" dirty="0"/>
          </a:p>
        </p:txBody>
      </p:sp>
      <p:sp>
        <p:nvSpPr>
          <p:cNvPr id="12" name="ablation body 2"/>
          <p:cNvSpPr txBox="1"/>
          <p:nvPr/>
        </p:nvSpPr>
        <p:spPr>
          <a:xfrm>
            <a:off x="5852160" y="3858768"/>
            <a:ext cx="2697480" cy="566928"/>
          </a:xfrm>
          <a:prstGeom prst="rect">
            <a:avLst/>
          </a:prstGeom>
          <a:noFill/>
          <a:ln/>
        </p:spPr>
        <p:txBody>
          <a:bodyPr wrap="square" lIns="0" tIns="0" rIns="0" bIns="0" rtlCol="0" anchor="ctr"/>
          <a:lstStyle/>
          <a:p>
            <a:pPr indent="0" marL="0">
              <a:buNone/>
            </a:pPr>
            <a:r>
              <a:rPr lang="en-US" sz="1200" dirty="0">
                <a:solidFill>
                  <a:schemeClr val="tx1"/>
                </a:solidFill>
              </a:rPr>
              <a:t>Gains are small here: short-term glucose is driven mostly by recent CGM values and meal timing</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doctor's view</a:t>
            </a:r>
            <a:endParaRPr lang="en-US" sz="3000" dirty="0"/>
          </a:p>
        </p:txBody>
      </p:sp>
      <p:pic>
        <p:nvPicPr>
          <p:cNvPr id="3" name="dashboard screenshot" descr="/tmp/claude-0/-home-claude/1ea24ef0-4a7e-5e9b-a8e7-fa9dc7f73984/scratchpad/deck/dash.png">    </p:cNvPr>
          <p:cNvPicPr>
            <a:picLocks noChangeAspect="1"/>
          </p:cNvPicPr>
          <p:nvPr/>
        </p:nvPicPr>
        <p:blipFill>
          <a:blip r:embed="rId1"/>
          <a:stretch>
            <a:fillRect/>
          </a:stretch>
        </p:blipFill>
        <p:spPr>
          <a:xfrm>
            <a:off x="457200" y="1097280"/>
            <a:ext cx="5303520" cy="3535680"/>
          </a:xfrm>
          <a:prstGeom prst="rect">
            <a:avLst/>
          </a:prstGeom>
        </p:spPr>
      </p:pic>
      <p:sp>
        <p:nvSpPr>
          <p:cNvPr id="4" name="dash head 0"/>
          <p:cNvSpPr txBox="1"/>
          <p:nvPr/>
        </p:nvSpPr>
        <p:spPr>
          <a:xfrm>
            <a:off x="6035040" y="1143000"/>
            <a:ext cx="2651760" cy="274320"/>
          </a:xfrm>
          <a:prstGeom prst="rect">
            <a:avLst/>
          </a:prstGeom>
          <a:noFill/>
          <a:ln/>
        </p:spPr>
        <p:txBody>
          <a:bodyPr wrap="square" lIns="0" tIns="0" rIns="0" bIns="0" rtlCol="0" anchor="ctr"/>
          <a:lstStyle/>
          <a:p>
            <a:pPr indent="0" marL="0">
              <a:buNone/>
            </a:pPr>
            <a:r>
              <a:rPr lang="en-US" sz="1500" b="1" dirty="0">
                <a:solidFill>
                  <a:schemeClr val="accent1"/>
                </a:solidFill>
              </a:rPr>
              <a:t>Risk-sorted list</a:t>
            </a:r>
            <a:endParaRPr lang="en-US" sz="1500" dirty="0"/>
          </a:p>
        </p:txBody>
      </p:sp>
      <p:sp>
        <p:nvSpPr>
          <p:cNvPr id="5" name="dash body 0"/>
          <p:cNvSpPr txBox="1"/>
          <p:nvPr/>
        </p:nvSpPr>
        <p:spPr>
          <a:xfrm>
            <a:off x="6035040" y="1435608"/>
            <a:ext cx="2651760" cy="502920"/>
          </a:xfrm>
          <a:prstGeom prst="rect">
            <a:avLst/>
          </a:prstGeom>
          <a:noFill/>
          <a:ln/>
        </p:spPr>
        <p:txBody>
          <a:bodyPr wrap="square" lIns="0" tIns="0" rIns="0" bIns="0" rtlCol="0" anchor="ctr"/>
          <a:lstStyle/>
          <a:p>
            <a:pPr indent="0" marL="0">
              <a:buNone/>
            </a:pPr>
            <a:r>
              <a:rPr lang="en-US" sz="1200" dirty="0">
                <a:solidFill>
                  <a:schemeClr val="tx1"/>
                </a:solidFill>
              </a:rPr>
              <a:t>Highest-risk patients first, with live glucose and trend arrow</a:t>
            </a:r>
            <a:endParaRPr lang="en-US" sz="1200" dirty="0"/>
          </a:p>
        </p:txBody>
      </p:sp>
      <p:sp>
        <p:nvSpPr>
          <p:cNvPr id="6" name="dash head 1"/>
          <p:cNvSpPr txBox="1"/>
          <p:nvPr/>
        </p:nvSpPr>
        <p:spPr>
          <a:xfrm>
            <a:off x="6035040" y="2011680"/>
            <a:ext cx="2651760" cy="274320"/>
          </a:xfrm>
          <a:prstGeom prst="rect">
            <a:avLst/>
          </a:prstGeom>
          <a:noFill/>
          <a:ln/>
        </p:spPr>
        <p:txBody>
          <a:bodyPr wrap="square" lIns="0" tIns="0" rIns="0" bIns="0" rtlCol="0" anchor="ctr"/>
          <a:lstStyle/>
          <a:p>
            <a:pPr indent="0" marL="0">
              <a:buNone/>
            </a:pPr>
            <a:r>
              <a:rPr lang="en-US" sz="1500" b="1" dirty="0">
                <a:solidFill>
                  <a:schemeClr val="accent1"/>
                </a:solidFill>
              </a:rPr>
              <a:t>2-hour prediction</a:t>
            </a:r>
            <a:endParaRPr lang="en-US" sz="1500" dirty="0"/>
          </a:p>
        </p:txBody>
      </p:sp>
      <p:sp>
        <p:nvSpPr>
          <p:cNvPr id="7" name="dash body 1"/>
          <p:cNvSpPr txBox="1"/>
          <p:nvPr/>
        </p:nvSpPr>
        <p:spPr>
          <a:xfrm>
            <a:off x="6035040" y="2304288"/>
            <a:ext cx="2651760" cy="502920"/>
          </a:xfrm>
          <a:prstGeom prst="rect">
            <a:avLst/>
          </a:prstGeom>
          <a:noFill/>
          <a:ln/>
        </p:spPr>
        <p:txBody>
          <a:bodyPr wrap="square" lIns="0" tIns="0" rIns="0" bIns="0" rtlCol="0" anchor="ctr"/>
          <a:lstStyle/>
          <a:p>
            <a:pPr indent="0" marL="0">
              <a:buNone/>
            </a:pPr>
            <a:r>
              <a:rPr lang="en-US" sz="1200" dirty="0">
                <a:solidFill>
                  <a:schemeClr val="tx1"/>
                </a:solidFill>
              </a:rPr>
              <a:t>Probability, forecast peak, and why</a:t>
            </a:r>
            <a:endParaRPr lang="en-US" sz="1200" dirty="0"/>
          </a:p>
        </p:txBody>
      </p:sp>
      <p:sp>
        <p:nvSpPr>
          <p:cNvPr id="8" name="dash head 2"/>
          <p:cNvSpPr txBox="1"/>
          <p:nvPr/>
        </p:nvSpPr>
        <p:spPr>
          <a:xfrm>
            <a:off x="6035040" y="2880360"/>
            <a:ext cx="2651760" cy="274320"/>
          </a:xfrm>
          <a:prstGeom prst="rect">
            <a:avLst/>
          </a:prstGeom>
          <a:noFill/>
          <a:ln/>
        </p:spPr>
        <p:txBody>
          <a:bodyPr wrap="square" lIns="0" tIns="0" rIns="0" bIns="0" rtlCol="0" anchor="ctr"/>
          <a:lstStyle/>
          <a:p>
            <a:pPr indent="0" marL="0">
              <a:buNone/>
            </a:pPr>
            <a:r>
              <a:rPr lang="en-US" sz="1500" b="1" dirty="0">
                <a:solidFill>
                  <a:schemeClr val="accent1"/>
                </a:solidFill>
              </a:rPr>
              <a:t>Live stream chart</a:t>
            </a:r>
            <a:endParaRPr lang="en-US" sz="1500" dirty="0"/>
          </a:p>
        </p:txBody>
      </p:sp>
      <p:sp>
        <p:nvSpPr>
          <p:cNvPr id="9" name="dash body 2"/>
          <p:cNvSpPr txBox="1"/>
          <p:nvPr/>
        </p:nvSpPr>
        <p:spPr>
          <a:xfrm>
            <a:off x="6035040" y="3172968"/>
            <a:ext cx="2651760" cy="502920"/>
          </a:xfrm>
          <a:prstGeom prst="rect">
            <a:avLst/>
          </a:prstGeom>
          <a:noFill/>
          <a:ln/>
        </p:spPr>
        <p:txBody>
          <a:bodyPr wrap="square" lIns="0" tIns="0" rIns="0" bIns="0" rtlCol="0" anchor="ctr"/>
          <a:lstStyle/>
          <a:p>
            <a:pPr indent="0" marL="0">
              <a:buNone/>
            </a:pPr>
            <a:r>
              <a:rPr lang="en-US" sz="1200" dirty="0">
                <a:solidFill>
                  <a:schemeClr val="tx1"/>
                </a:solidFill>
              </a:rPr>
              <a:t>CGM, forecast band, meals, steps, sleep</a:t>
            </a:r>
            <a:endParaRPr lang="en-US" sz="1200" dirty="0"/>
          </a:p>
        </p:txBody>
      </p:sp>
      <p:sp>
        <p:nvSpPr>
          <p:cNvPr id="10" name="dash head 3"/>
          <p:cNvSpPr txBox="1"/>
          <p:nvPr/>
        </p:nvSpPr>
        <p:spPr>
          <a:xfrm>
            <a:off x="6035040" y="3749040"/>
            <a:ext cx="2651760" cy="274320"/>
          </a:xfrm>
          <a:prstGeom prst="rect">
            <a:avLst/>
          </a:prstGeom>
          <a:noFill/>
          <a:ln/>
        </p:spPr>
        <p:txBody>
          <a:bodyPr wrap="square" lIns="0" tIns="0" rIns="0" bIns="0" rtlCol="0" anchor="ctr"/>
          <a:lstStyle/>
          <a:p>
            <a:pPr indent="0" marL="0">
              <a:buNone/>
            </a:pPr>
            <a:r>
              <a:rPr lang="en-US" sz="1500" b="1" dirty="0">
                <a:solidFill>
                  <a:schemeClr val="accent1"/>
                </a:solidFill>
              </a:rPr>
              <a:t>Alert inbox</a:t>
            </a:r>
            <a:endParaRPr lang="en-US" sz="1500" dirty="0"/>
          </a:p>
        </p:txBody>
      </p:sp>
      <p:sp>
        <p:nvSpPr>
          <p:cNvPr id="11" name="dash body 3"/>
          <p:cNvSpPr txBox="1"/>
          <p:nvPr/>
        </p:nvSpPr>
        <p:spPr>
          <a:xfrm>
            <a:off x="6035040" y="4041648"/>
            <a:ext cx="2651760" cy="502920"/>
          </a:xfrm>
          <a:prstGeom prst="rect">
            <a:avLst/>
          </a:prstGeom>
          <a:noFill/>
          <a:ln/>
        </p:spPr>
        <p:txBody>
          <a:bodyPr wrap="square" lIns="0" tIns="0" rIns="0" bIns="0" rtlCol="0" anchor="ctr"/>
          <a:lstStyle/>
          <a:p>
            <a:pPr indent="0" marL="0">
              <a:buNone/>
            </a:pPr>
            <a:r>
              <a:rPr lang="en-US" sz="1200" dirty="0">
                <a:solidFill>
                  <a:schemeClr val="tx1"/>
                </a:solidFill>
              </a:rPr>
              <a:t>Acknowledge with an action note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What-if: test advice on the twin first</a:t>
            </a:r>
            <a:endParaRPr lang="en-US" sz="3000" dirty="0"/>
          </a:p>
        </p:txBody>
      </p:sp>
      <p:pic>
        <p:nvPicPr>
          <p:cNvPr id="3" name="what-if screenshot" descr="/tmp/claude-0/-home-claude/1ea24ef0-4a7e-5e9b-a8e7-fa9dc7f73984/scratchpad/deck/whatif_crop.png">    </p:cNvPr>
          <p:cNvPicPr>
            <a:picLocks noChangeAspect="1"/>
          </p:cNvPicPr>
          <p:nvPr/>
        </p:nvPicPr>
        <p:blipFill>
          <a:blip r:embed="rId1"/>
          <a:stretch>
            <a:fillRect/>
          </a:stretch>
        </p:blipFill>
        <p:spPr>
          <a:xfrm>
            <a:off x="457200" y="1097280"/>
            <a:ext cx="5486400" cy="2786438"/>
          </a:xfrm>
          <a:prstGeom prst="rect">
            <a:avLst/>
          </a:prstGeom>
        </p:spPr>
      </p:pic>
      <p:sp>
        <p:nvSpPr>
          <p:cNvPr id="4" name="whatif card"/>
          <p:cNvSpPr/>
          <p:nvPr/>
        </p:nvSpPr>
        <p:spPr>
          <a:xfrm>
            <a:off x="6217920" y="1143000"/>
            <a:ext cx="2468880" cy="2834640"/>
          </a:xfrm>
          <a:prstGeom prst="roundRect">
            <a:avLst>
              <a:gd name="adj" fmla="val 4444"/>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5" name="wi head"/>
          <p:cNvSpPr txBox="1"/>
          <p:nvPr/>
        </p:nvSpPr>
        <p:spPr>
          <a:xfrm>
            <a:off x="6400800" y="1280160"/>
            <a:ext cx="2148840" cy="548640"/>
          </a:xfrm>
          <a:prstGeom prst="rect">
            <a:avLst/>
          </a:prstGeom>
          <a:noFill/>
          <a:ln/>
        </p:spPr>
        <p:txBody>
          <a:bodyPr wrap="square" lIns="0" tIns="0" rIns="0" bIns="0" rtlCol="0" anchor="ctr"/>
          <a:lstStyle/>
          <a:p>
            <a:pPr indent="0" marL="0">
              <a:buNone/>
            </a:pPr>
            <a:r>
              <a:rPr lang="en-US" sz="1400" b="1" dirty="0">
                <a:solidFill>
                  <a:schemeClr val="tx2"/>
                </a:solidFill>
              </a:rPr>
              <a:t>Example: 30% less rice at dinner</a:t>
            </a:r>
            <a:endParaRPr lang="en-US" sz="1400" dirty="0"/>
          </a:p>
        </p:txBody>
      </p:sp>
      <p:sp>
        <p:nvSpPr>
          <p:cNvPr id="6" name="wi stat"/>
          <p:cNvSpPr txBox="1"/>
          <p:nvPr/>
        </p:nvSpPr>
        <p:spPr>
          <a:xfrm>
            <a:off x="6400800" y="1874520"/>
            <a:ext cx="2148840" cy="6400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+4.9</a:t>
            </a:r>
            <a:endParaRPr lang="en-US" sz="4000" dirty="0"/>
          </a:p>
        </p:txBody>
      </p:sp>
      <p:sp>
        <p:nvSpPr>
          <p:cNvPr id="7" name="wi label"/>
          <p:cNvSpPr txBox="1"/>
          <p:nvPr/>
        </p:nvSpPr>
        <p:spPr>
          <a:xfrm>
            <a:off x="6400800" y="2560320"/>
            <a:ext cx="2148840" cy="1188720"/>
          </a:xfrm>
          <a:prstGeom prst="rect">
            <a:avLst/>
          </a:prstGeom>
          <a:noFill/>
          <a:ln/>
        </p:spPr>
        <p:txBody>
          <a:bodyPr wrap="square" lIns="0" tIns="0" rIns="0" bIns="0" rtlCol="0" anchor="ctr"/>
          <a:lstStyle/>
          <a:p>
            <a:pPr indent="0" marL="0">
              <a:buNone/>
            </a:pPr>
            <a:r>
              <a:rPr lang="en-US" sz="1200" dirty="0">
                <a:solidFill>
                  <a:schemeClr val="tx1"/>
                </a:solidFill>
              </a:rPr>
              <a:t>percentage points of time-in-range for this patient (53.8% → 58.7%) over the next 24 h</a:t>
            </a:r>
            <a:endParaRPr lang="en-US" sz="1200" dirty="0"/>
          </a:p>
        </p:txBody>
      </p:sp>
      <p:sp>
        <p:nvSpPr>
          <p:cNvPr id="8" name="wi levers"/>
          <p:cNvSpPr txBox="1"/>
          <p:nvPr/>
        </p:nvSpPr>
        <p:spPr>
          <a:xfrm>
            <a:off x="6217920" y="4114800"/>
            <a:ext cx="2468880" cy="548640"/>
          </a:xfrm>
          <a:prstGeom prst="rect">
            <a:avLst/>
          </a:prstGeom>
          <a:noFill/>
          <a:ln/>
        </p:spPr>
        <p:txBody>
          <a:bodyPr wrap="square" lIns="0" tIns="0" rIns="0" bIns="0" rtlCol="0" anchor="ctr"/>
          <a:lstStyle/>
          <a:p>
            <a:pPr indent="0" marL="0">
              <a:buNone/>
            </a:pPr>
            <a:r>
              <a:rPr lang="en-US" sz="1200" i="1" dirty="0">
                <a:solidFill>
                  <a:schemeClr val="accent6"/>
                </a:solidFill>
              </a:rPr>
              <a:t>Other levers: post-meal walks, earlier dinner, more sleep, morning walk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Real-world impact and fit for India</a:t>
            </a:r>
            <a:endParaRPr lang="en-US" sz="3000" dirty="0"/>
          </a:p>
        </p:txBody>
      </p:sp>
      <p:sp>
        <p:nvSpPr>
          <p:cNvPr id="3" name="impact card 0"/>
          <p:cNvSpPr/>
          <p:nvPr/>
        </p:nvSpPr>
        <p:spPr>
          <a:xfrm>
            <a:off x="457200" y="1188720"/>
            <a:ext cx="4023360" cy="1463040"/>
          </a:xfrm>
          <a:prstGeom prst="roundRect">
            <a:avLst>
              <a:gd name="adj" fmla="val 75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impact 0 circle"/>
          <p:cNvSpPr/>
          <p:nvPr/>
        </p:nvSpPr>
        <p:spPr>
          <a:xfrm>
            <a:off x="685800" y="1554480"/>
            <a:ext cx="685800" cy="685800"/>
          </a:xfrm>
          <a:prstGeom prst="ellipse">
            <a:avLst/>
          </a:prstGeom>
          <a:solidFill>
            <a:srgbClr val="0F766E"/>
          </a:solidFill>
          <a:ln w="12700">
            <a:solidFill>
              <a:srgbClr val="0F766E"/>
            </a:solidFill>
            <a:prstDash val="solid"/>
          </a:ln>
        </p:spPr>
      </p:sp>
      <p:pic>
        <p:nvPicPr>
          <p:cNvPr id="5" name="impact 0 icon" descr="preencoded.png">    </p:cNvPr>
          <p:cNvPicPr>
            <a:picLocks noChangeAspect="1"/>
          </p:cNvPicPr>
          <p:nvPr/>
        </p:nvPicPr>
        <p:blipFill>
          <a:blip r:embed="rId1"/>
          <a:stretch>
            <a:fillRect/>
          </a:stretch>
        </p:blipFill>
        <p:spPr>
          <a:xfrm>
            <a:off x="850392" y="1719072"/>
            <a:ext cx="356616" cy="356616"/>
          </a:xfrm>
          <a:prstGeom prst="rect">
            <a:avLst/>
          </a:prstGeom>
        </p:spPr>
      </p:pic>
      <p:sp>
        <p:nvSpPr>
          <p:cNvPr id="6" name="impact head 0"/>
          <p:cNvSpPr txBox="1"/>
          <p:nvPr/>
        </p:nvSpPr>
        <p:spPr>
          <a:xfrm>
            <a:off x="1554480" y="1463040"/>
            <a:ext cx="2743200" cy="320040"/>
          </a:xfrm>
          <a:prstGeom prst="rect">
            <a:avLst/>
          </a:prstGeom>
          <a:noFill/>
          <a:ln/>
        </p:spPr>
        <p:txBody>
          <a:bodyPr wrap="square" lIns="0" tIns="0" rIns="0" bIns="0" rtlCol="0" anchor="ctr"/>
          <a:lstStyle/>
          <a:p>
            <a:pPr indent="0" marL="0">
              <a:buNone/>
            </a:pPr>
            <a:r>
              <a:rPr lang="en-US" sz="1600" b="1" dirty="0">
                <a:solidFill>
                  <a:schemeClr val="tx2"/>
                </a:solidFill>
              </a:rPr>
              <a:t>Remote monitoring at scale</a:t>
            </a:r>
            <a:endParaRPr lang="en-US" sz="1600" dirty="0"/>
          </a:p>
        </p:txBody>
      </p:sp>
      <p:sp>
        <p:nvSpPr>
          <p:cNvPr id="7" name="impact body 0"/>
          <p:cNvSpPr txBox="1"/>
          <p:nvPr/>
        </p:nvSpPr>
        <p:spPr>
          <a:xfrm>
            <a:off x="1554480" y="1828800"/>
            <a:ext cx="2743200" cy="640080"/>
          </a:xfrm>
          <a:prstGeom prst="rect">
            <a:avLst/>
          </a:prstGeom>
          <a:noFill/>
          <a:ln/>
        </p:spPr>
        <p:txBody>
          <a:bodyPr wrap="square" lIns="0" tIns="0" rIns="0" bIns="0" rtlCol="0" anchor="ctr"/>
          <a:lstStyle/>
          <a:p>
            <a:pPr indent="0" marL="0">
              <a:buNone/>
            </a:pPr>
            <a:r>
              <a:rPr lang="en-US" sz="1300" dirty="0">
                <a:solidFill>
                  <a:schemeClr val="tx1"/>
                </a:solidFill>
              </a:rPr>
              <a:t>One nurse can watch hundreds of twins and act only on alerts</a:t>
            </a:r>
            <a:endParaRPr lang="en-US" sz="1300" dirty="0"/>
          </a:p>
        </p:txBody>
      </p:sp>
      <p:sp>
        <p:nvSpPr>
          <p:cNvPr id="8" name="impact card 1"/>
          <p:cNvSpPr/>
          <p:nvPr/>
        </p:nvSpPr>
        <p:spPr>
          <a:xfrm>
            <a:off x="4663440" y="1188720"/>
            <a:ext cx="4023360" cy="1463040"/>
          </a:xfrm>
          <a:prstGeom prst="roundRect">
            <a:avLst>
              <a:gd name="adj" fmla="val 75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9" name="impact 1 circle"/>
          <p:cNvSpPr/>
          <p:nvPr/>
        </p:nvSpPr>
        <p:spPr>
          <a:xfrm>
            <a:off x="4892040" y="1554480"/>
            <a:ext cx="685800" cy="685800"/>
          </a:xfrm>
          <a:prstGeom prst="ellipse">
            <a:avLst/>
          </a:prstGeom>
          <a:solidFill>
            <a:srgbClr val="0F766E"/>
          </a:solidFill>
          <a:ln w="12700">
            <a:solidFill>
              <a:srgbClr val="0F766E"/>
            </a:solidFill>
            <a:prstDash val="solid"/>
          </a:ln>
        </p:spPr>
      </p:sp>
      <p:pic>
        <p:nvPicPr>
          <p:cNvPr id="10" name="impact 1 icon" descr="preencoded.png">    </p:cNvPr>
          <p:cNvPicPr>
            <a:picLocks noChangeAspect="1"/>
          </p:cNvPicPr>
          <p:nvPr/>
        </p:nvPicPr>
        <p:blipFill>
          <a:blip r:embed="rId2"/>
          <a:stretch>
            <a:fillRect/>
          </a:stretch>
        </p:blipFill>
        <p:spPr>
          <a:xfrm>
            <a:off x="5056632" y="1719072"/>
            <a:ext cx="356616" cy="356616"/>
          </a:xfrm>
          <a:prstGeom prst="rect">
            <a:avLst/>
          </a:prstGeom>
        </p:spPr>
      </p:pic>
      <p:sp>
        <p:nvSpPr>
          <p:cNvPr id="11" name="impact head 1"/>
          <p:cNvSpPr txBox="1"/>
          <p:nvPr/>
        </p:nvSpPr>
        <p:spPr>
          <a:xfrm>
            <a:off x="5760720" y="1463040"/>
            <a:ext cx="2743200" cy="320040"/>
          </a:xfrm>
          <a:prstGeom prst="rect">
            <a:avLst/>
          </a:prstGeom>
          <a:noFill/>
          <a:ln/>
        </p:spPr>
        <p:txBody>
          <a:bodyPr wrap="square" lIns="0" tIns="0" rIns="0" bIns="0" rtlCol="0" anchor="ctr"/>
          <a:lstStyle/>
          <a:p>
            <a:pPr indent="0" marL="0">
              <a:buNone/>
            </a:pPr>
            <a:r>
              <a:rPr lang="en-US" sz="1600" b="1" dirty="0">
                <a:solidFill>
                  <a:schemeClr val="tx2"/>
                </a:solidFill>
              </a:rPr>
              <a:t>Prevent, don't treat</a:t>
            </a:r>
            <a:endParaRPr lang="en-US" sz="1600" dirty="0"/>
          </a:p>
        </p:txBody>
      </p:sp>
      <p:sp>
        <p:nvSpPr>
          <p:cNvPr id="12" name="impact body 1"/>
          <p:cNvSpPr txBox="1"/>
          <p:nvPr/>
        </p:nvSpPr>
        <p:spPr>
          <a:xfrm>
            <a:off x="5760720" y="1828800"/>
            <a:ext cx="2743200" cy="640080"/>
          </a:xfrm>
          <a:prstGeom prst="rect">
            <a:avLst/>
          </a:prstGeom>
          <a:noFill/>
          <a:ln/>
        </p:spPr>
        <p:txBody>
          <a:bodyPr wrap="square" lIns="0" tIns="0" rIns="0" bIns="0" rtlCol="0" anchor="ctr"/>
          <a:lstStyle/>
          <a:p>
            <a:pPr indent="0" marL="0">
              <a:buNone/>
            </a:pPr>
            <a:r>
              <a:rPr lang="en-US" sz="1300" dirty="0">
                <a:solidFill>
                  <a:schemeClr val="tx1"/>
                </a:solidFill>
              </a:rPr>
              <a:t>A 15-minute walk advised 90 minutes early can blunt a spike</a:t>
            </a:r>
            <a:endParaRPr lang="en-US" sz="1300" dirty="0"/>
          </a:p>
        </p:txBody>
      </p:sp>
      <p:sp>
        <p:nvSpPr>
          <p:cNvPr id="13" name="impact card 2"/>
          <p:cNvSpPr/>
          <p:nvPr/>
        </p:nvSpPr>
        <p:spPr>
          <a:xfrm>
            <a:off x="457200" y="2880360"/>
            <a:ext cx="4023360" cy="1463040"/>
          </a:xfrm>
          <a:prstGeom prst="roundRect">
            <a:avLst>
              <a:gd name="adj" fmla="val 75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4" name="impact 2 circle"/>
          <p:cNvSpPr/>
          <p:nvPr/>
        </p:nvSpPr>
        <p:spPr>
          <a:xfrm>
            <a:off x="685800" y="3246120"/>
            <a:ext cx="685800" cy="685800"/>
          </a:xfrm>
          <a:prstGeom prst="ellipse">
            <a:avLst/>
          </a:prstGeom>
          <a:solidFill>
            <a:srgbClr val="0F766E"/>
          </a:solidFill>
          <a:ln w="12700">
            <a:solidFill>
              <a:srgbClr val="0F766E"/>
            </a:solidFill>
            <a:prstDash val="solid"/>
          </a:ln>
        </p:spPr>
      </p:sp>
      <p:pic>
        <p:nvPicPr>
          <p:cNvPr id="15" name="impact 2 icon" descr="preencoded.png">    </p:cNvPr>
          <p:cNvPicPr>
            <a:picLocks noChangeAspect="1"/>
          </p:cNvPicPr>
          <p:nvPr/>
        </p:nvPicPr>
        <p:blipFill>
          <a:blip r:embed="rId3"/>
          <a:stretch>
            <a:fillRect/>
          </a:stretch>
        </p:blipFill>
        <p:spPr>
          <a:xfrm>
            <a:off x="850392" y="3410712"/>
            <a:ext cx="356616" cy="356616"/>
          </a:xfrm>
          <a:prstGeom prst="rect">
            <a:avLst/>
          </a:prstGeom>
        </p:spPr>
      </p:pic>
      <p:sp>
        <p:nvSpPr>
          <p:cNvPr id="16" name="impact head 2"/>
          <p:cNvSpPr txBox="1"/>
          <p:nvPr/>
        </p:nvSpPr>
        <p:spPr>
          <a:xfrm>
            <a:off x="1554480" y="3154680"/>
            <a:ext cx="2743200" cy="320040"/>
          </a:xfrm>
          <a:prstGeom prst="rect">
            <a:avLst/>
          </a:prstGeom>
          <a:noFill/>
          <a:ln/>
        </p:spPr>
        <p:txBody>
          <a:bodyPr wrap="square" lIns="0" tIns="0" rIns="0" bIns="0" rtlCol="0" anchor="ctr"/>
          <a:lstStyle/>
          <a:p>
            <a:pPr indent="0" marL="0">
              <a:buNone/>
            </a:pPr>
            <a:r>
              <a:rPr lang="en-US" sz="1600" b="1" dirty="0">
                <a:solidFill>
                  <a:schemeClr val="tx2"/>
                </a:solidFill>
              </a:rPr>
              <a:t>Low-cost path</a:t>
            </a:r>
            <a:endParaRPr lang="en-US" sz="1600" dirty="0"/>
          </a:p>
        </p:txBody>
      </p:sp>
      <p:sp>
        <p:nvSpPr>
          <p:cNvPr id="17" name="impact body 2"/>
          <p:cNvSpPr txBox="1"/>
          <p:nvPr/>
        </p:nvSpPr>
        <p:spPr>
          <a:xfrm>
            <a:off x="1554480" y="3520440"/>
            <a:ext cx="2743200" cy="640080"/>
          </a:xfrm>
          <a:prstGeom prst="rect">
            <a:avLst/>
          </a:prstGeom>
          <a:noFill/>
          <a:ln/>
        </p:spPr>
        <p:txBody>
          <a:bodyPr wrap="square" lIns="0" tIns="0" rIns="0" bIns="0" rtlCol="0" anchor="ctr"/>
          <a:lstStyle/>
          <a:p>
            <a:pPr indent="0" marL="0">
              <a:buNone/>
            </a:pPr>
            <a:r>
              <a:rPr lang="en-US" sz="1300" dirty="0">
                <a:solidFill>
                  <a:schemeClr val="tx1"/>
                </a:solidFill>
              </a:rPr>
              <a:t>Works with a smartwatch + EHR when a CGM isn't available</a:t>
            </a:r>
            <a:endParaRPr lang="en-US" sz="1300" dirty="0"/>
          </a:p>
        </p:txBody>
      </p:sp>
      <p:sp>
        <p:nvSpPr>
          <p:cNvPr id="18" name="impact card 3"/>
          <p:cNvSpPr/>
          <p:nvPr/>
        </p:nvSpPr>
        <p:spPr>
          <a:xfrm>
            <a:off x="4663440" y="2880360"/>
            <a:ext cx="4023360" cy="1463040"/>
          </a:xfrm>
          <a:prstGeom prst="roundRect">
            <a:avLst>
              <a:gd name="adj" fmla="val 75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19" name="impact 3 circle"/>
          <p:cNvSpPr/>
          <p:nvPr/>
        </p:nvSpPr>
        <p:spPr>
          <a:xfrm>
            <a:off x="4892040" y="3246120"/>
            <a:ext cx="685800" cy="685800"/>
          </a:xfrm>
          <a:prstGeom prst="ellipse">
            <a:avLst/>
          </a:prstGeom>
          <a:solidFill>
            <a:srgbClr val="0F766E"/>
          </a:solidFill>
          <a:ln w="12700">
            <a:solidFill>
              <a:srgbClr val="0F766E"/>
            </a:solidFill>
            <a:prstDash val="solid"/>
          </a:ln>
        </p:spPr>
      </p:sp>
      <p:pic>
        <p:nvPicPr>
          <p:cNvPr id="20" name="impact 3 icon" descr="preencoded.png">    </p:cNvPr>
          <p:cNvPicPr>
            <a:picLocks noChangeAspect="1"/>
          </p:cNvPicPr>
          <p:nvPr/>
        </p:nvPicPr>
        <p:blipFill>
          <a:blip r:embed="rId4"/>
          <a:stretch>
            <a:fillRect/>
          </a:stretch>
        </p:blipFill>
        <p:spPr>
          <a:xfrm>
            <a:off x="5056632" y="3410712"/>
            <a:ext cx="356616" cy="356616"/>
          </a:xfrm>
          <a:prstGeom prst="rect">
            <a:avLst/>
          </a:prstGeom>
        </p:spPr>
      </p:pic>
      <p:sp>
        <p:nvSpPr>
          <p:cNvPr id="21" name="impact head 3"/>
          <p:cNvSpPr txBox="1"/>
          <p:nvPr/>
        </p:nvSpPr>
        <p:spPr>
          <a:xfrm>
            <a:off x="5760720" y="3154680"/>
            <a:ext cx="2743200" cy="320040"/>
          </a:xfrm>
          <a:prstGeom prst="rect">
            <a:avLst/>
          </a:prstGeom>
          <a:noFill/>
          <a:ln/>
        </p:spPr>
        <p:txBody>
          <a:bodyPr wrap="square" lIns="0" tIns="0" rIns="0" bIns="0" rtlCol="0" anchor="ctr"/>
          <a:lstStyle/>
          <a:p>
            <a:pPr indent="0" marL="0">
              <a:buNone/>
            </a:pPr>
            <a:r>
              <a:rPr lang="en-US" sz="1600" b="1" dirty="0">
                <a:solidFill>
                  <a:schemeClr val="tx2"/>
                </a:solidFill>
              </a:rPr>
              <a:t>Privacy by design</a:t>
            </a:r>
            <a:endParaRPr lang="en-US" sz="1600" dirty="0"/>
          </a:p>
        </p:txBody>
      </p:sp>
      <p:sp>
        <p:nvSpPr>
          <p:cNvPr id="22" name="impact body 3"/>
          <p:cNvSpPr txBox="1"/>
          <p:nvPr/>
        </p:nvSpPr>
        <p:spPr>
          <a:xfrm>
            <a:off x="5760720" y="3520440"/>
            <a:ext cx="2743200" cy="640080"/>
          </a:xfrm>
          <a:prstGeom prst="rect">
            <a:avLst/>
          </a:prstGeom>
          <a:noFill/>
          <a:ln/>
        </p:spPr>
        <p:txBody>
          <a:bodyPr wrap="square" lIns="0" tIns="0" rIns="0" bIns="0" rtlCol="0" anchor="ctr"/>
          <a:lstStyle/>
          <a:p>
            <a:pPr indent="0" marL="0">
              <a:buNone/>
            </a:pPr>
            <a:r>
              <a:rPr lang="en-US" sz="1300" dirty="0">
                <a:solidFill>
                  <a:schemeClr val="tx1"/>
                </a:solidFill>
              </a:rPr>
              <a:t>Synthetic sandbox now; ABDM/FHIR + DPDP-consent integration next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Limitations and roadmap</a:t>
            </a:r>
            <a:endParaRPr lang="en-US" sz="3000" dirty="0"/>
          </a:p>
        </p:txBody>
      </p:sp>
      <p:sp>
        <p:nvSpPr>
          <p:cNvPr id="3" name="limits card"/>
          <p:cNvSpPr/>
          <p:nvPr/>
        </p:nvSpPr>
        <p:spPr>
          <a:xfrm>
            <a:off x="457200" y="1143000"/>
            <a:ext cx="4023360" cy="3429000"/>
          </a:xfrm>
          <a:prstGeom prst="roundRect">
            <a:avLst>
              <a:gd name="adj" fmla="val 3200"/>
            </a:avLst>
          </a:prstGeom>
          <a:solidFill>
            <a:srgbClr val="F1F5F4"/>
          </a:solidFill>
          <a:ln w="12700">
            <a:solidFill>
              <a:srgbClr val="F1F5F4"/>
            </a:solidFill>
            <a:prstDash val="solid"/>
          </a:ln>
          <a:effectLst>
            <a:outerShdw sx="100000" sy="100000" kx="0" ky="0" algn="bl" rotWithShape="0" blurRad="76200" dist="25400" dir="5400000">
              <a:srgbClr val="94A3B8">
                <a:alpha val="25000"/>
              </a:srgbClr>
            </a:outerShdw>
          </a:effectLst>
        </p:spPr>
      </p:sp>
      <p:sp>
        <p:nvSpPr>
          <p:cNvPr id="4" name="limits head"/>
          <p:cNvSpPr txBox="1"/>
          <p:nvPr/>
        </p:nvSpPr>
        <p:spPr>
          <a:xfrm>
            <a:off x="685800" y="1280160"/>
            <a:ext cx="3657600" cy="365760"/>
          </a:xfrm>
          <a:prstGeom prst="rect">
            <a:avLst/>
          </a:prstGeom>
          <a:noFill/>
          <a:ln/>
        </p:spPr>
        <p:txBody>
          <a:bodyPr wrap="square" lIns="0" tIns="0" rIns="0" bIns="0" rtlCol="0" anchor="ctr"/>
          <a:lstStyle/>
          <a:p>
            <a:pPr indent="0" marL="0">
              <a:buNone/>
            </a:pPr>
            <a:r>
              <a:rPr lang="en-US" sz="1800" b="1" dirty="0">
                <a:solidFill>
                  <a:schemeClr val="accent2"/>
                </a:solidFill>
              </a:rPr>
              <a:t>Limitations (honest)</a:t>
            </a:r>
            <a:endParaRPr lang="en-US" sz="1800" dirty="0"/>
          </a:p>
        </p:txBody>
      </p:sp>
      <p:sp>
        <p:nvSpPr>
          <p:cNvPr id="5" name="limits list"/>
          <p:cNvSpPr txBox="1"/>
          <p:nvPr/>
        </p:nvSpPr>
        <p:spPr>
          <a:xfrm>
            <a:off x="685800" y="1737360"/>
            <a:ext cx="3657600" cy="265176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Synthetic data from the same model family, so the accuracy numbers are optimistic</a:t>
            </a:r>
            <a:endParaRPr lang="en-US" sz="1400" dirty="0"/>
          </a:p>
          <a:p>
            <a:pPr marL="342900" indent="-342900">
              <a:spcAft>
                <a:spcPts val="800"/>
              </a:spcAft>
              <a:buSzPct val="100000"/>
              <a:buChar char="•"/>
            </a:pPr>
            <a:r>
              <a:rPr lang="en-US" sz="1400" dirty="0">
                <a:solidFill>
                  <a:schemeClr val="tx1"/>
                </a:solidFill>
              </a:rPr>
              <a:t>Unlogged meals limit calibration</a:t>
            </a:r>
            <a:endParaRPr lang="en-US" sz="1400" dirty="0"/>
          </a:p>
          <a:p>
            <a:pPr marL="342900" indent="-342900">
              <a:spcAft>
                <a:spcPts val="800"/>
              </a:spcAft>
              <a:buSzPct val="100000"/>
              <a:buChar char="•"/>
            </a:pPr>
            <a:r>
              <a:rPr lang="en-US" sz="1400" dirty="0">
                <a:solidFill>
                  <a:schemeClr val="tx1"/>
                </a:solidFill>
              </a:rPr>
              <a:t>Not a medical device; needs clinical validation</a:t>
            </a:r>
            <a:endParaRPr lang="en-US" sz="1400" dirty="0"/>
          </a:p>
        </p:txBody>
      </p:sp>
      <p:sp>
        <p:nvSpPr>
          <p:cNvPr id="6" name="road circle 0"/>
          <p:cNvSpPr/>
          <p:nvPr/>
        </p:nvSpPr>
        <p:spPr>
          <a:xfrm>
            <a:off x="4800600" y="1188720"/>
            <a:ext cx="411480" cy="411480"/>
          </a:xfrm>
          <a:prstGeom prst="ellipse">
            <a:avLst/>
          </a:prstGeom>
          <a:solidFill>
            <a:srgbClr val="0F766E"/>
          </a:solidFill>
          <a:ln w="12700">
            <a:solidFill>
              <a:srgbClr val="0F766E"/>
            </a:solidFill>
            <a:prstDash val="solid"/>
          </a:ln>
        </p:spPr>
      </p:sp>
      <p:sp>
        <p:nvSpPr>
          <p:cNvPr id="7" name="road n 0"/>
          <p:cNvSpPr txBox="1"/>
          <p:nvPr/>
        </p:nvSpPr>
        <p:spPr>
          <a:xfrm>
            <a:off x="4800600" y="1188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road head 0"/>
          <p:cNvSpPr txBox="1"/>
          <p:nvPr/>
        </p:nvSpPr>
        <p:spPr>
          <a:xfrm>
            <a:off x="5349240" y="1161288"/>
            <a:ext cx="3337560" cy="274320"/>
          </a:xfrm>
          <a:prstGeom prst="rect">
            <a:avLst/>
          </a:prstGeom>
          <a:noFill/>
          <a:ln/>
        </p:spPr>
        <p:txBody>
          <a:bodyPr wrap="square" lIns="0" tIns="0" rIns="0" bIns="0" rtlCol="0" anchor="ctr"/>
          <a:lstStyle/>
          <a:p>
            <a:pPr indent="0" marL="0">
              <a:buNone/>
            </a:pPr>
            <a:r>
              <a:rPr lang="en-US" sz="1500" b="1" dirty="0">
                <a:solidFill>
                  <a:schemeClr val="tx2"/>
                </a:solidFill>
              </a:rPr>
              <a:t>Validate on real data</a:t>
            </a:r>
            <a:endParaRPr lang="en-US" sz="1500" dirty="0"/>
          </a:p>
        </p:txBody>
      </p:sp>
      <p:sp>
        <p:nvSpPr>
          <p:cNvPr id="9" name="road body 0"/>
          <p:cNvSpPr txBox="1"/>
          <p:nvPr/>
        </p:nvSpPr>
        <p:spPr>
          <a:xfrm>
            <a:off x="5349240" y="1444752"/>
            <a:ext cx="3337560" cy="365760"/>
          </a:xfrm>
          <a:prstGeom prst="rect">
            <a:avLst/>
          </a:prstGeom>
          <a:noFill/>
          <a:ln/>
        </p:spPr>
        <p:txBody>
          <a:bodyPr wrap="square" lIns="0" tIns="0" rIns="0" bIns="0" rtlCol="0" anchor="ctr"/>
          <a:lstStyle/>
          <a:p>
            <a:pPr indent="0" marL="0">
              <a:buNone/>
            </a:pPr>
            <a:r>
              <a:rPr lang="en-US" sz="1200" dirty="0">
                <a:solidFill>
                  <a:schemeClr val="tx1"/>
                </a:solidFill>
              </a:rPr>
              <a:t>CGMacros (PhysioNet): T2D CGM + Fitbit + meals</a:t>
            </a:r>
            <a:endParaRPr lang="en-US" sz="1200" dirty="0"/>
          </a:p>
        </p:txBody>
      </p:sp>
      <p:sp>
        <p:nvSpPr>
          <p:cNvPr id="10" name="road circle 1"/>
          <p:cNvSpPr/>
          <p:nvPr/>
        </p:nvSpPr>
        <p:spPr>
          <a:xfrm>
            <a:off x="4800600" y="2029968"/>
            <a:ext cx="411480" cy="411480"/>
          </a:xfrm>
          <a:prstGeom prst="ellipse">
            <a:avLst/>
          </a:prstGeom>
          <a:solidFill>
            <a:srgbClr val="0F766E"/>
          </a:solidFill>
          <a:ln w="12700">
            <a:solidFill>
              <a:srgbClr val="0F766E"/>
            </a:solidFill>
            <a:prstDash val="solid"/>
          </a:ln>
        </p:spPr>
      </p:sp>
      <p:sp>
        <p:nvSpPr>
          <p:cNvPr id="11" name="road n 1"/>
          <p:cNvSpPr txBox="1"/>
          <p:nvPr/>
        </p:nvSpPr>
        <p:spPr>
          <a:xfrm>
            <a:off x="4800600" y="202996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road head 1"/>
          <p:cNvSpPr txBox="1"/>
          <p:nvPr/>
        </p:nvSpPr>
        <p:spPr>
          <a:xfrm>
            <a:off x="5349240" y="2002536"/>
            <a:ext cx="3337560" cy="274320"/>
          </a:xfrm>
          <a:prstGeom prst="rect">
            <a:avLst/>
          </a:prstGeom>
          <a:noFill/>
          <a:ln/>
        </p:spPr>
        <p:txBody>
          <a:bodyPr wrap="square" lIns="0" tIns="0" rIns="0" bIns="0" rtlCol="0" anchor="ctr"/>
          <a:lstStyle/>
          <a:p>
            <a:pPr indent="0" marL="0">
              <a:buNone/>
            </a:pPr>
            <a:r>
              <a:rPr lang="en-US" sz="1500" b="1" dirty="0">
                <a:solidFill>
                  <a:schemeClr val="tx2"/>
                </a:solidFill>
              </a:rPr>
              <a:t>Meal detection</a:t>
            </a:r>
            <a:endParaRPr lang="en-US" sz="1500" dirty="0"/>
          </a:p>
        </p:txBody>
      </p:sp>
      <p:sp>
        <p:nvSpPr>
          <p:cNvPr id="13" name="road body 1"/>
          <p:cNvSpPr txBox="1"/>
          <p:nvPr/>
        </p:nvSpPr>
        <p:spPr>
          <a:xfrm>
            <a:off x="5349240" y="2286000"/>
            <a:ext cx="3337560" cy="365760"/>
          </a:xfrm>
          <a:prstGeom prst="rect">
            <a:avLst/>
          </a:prstGeom>
          <a:noFill/>
          <a:ln/>
        </p:spPr>
        <p:txBody>
          <a:bodyPr wrap="square" lIns="0" tIns="0" rIns="0" bIns="0" rtlCol="0" anchor="ctr"/>
          <a:lstStyle/>
          <a:p>
            <a:pPr indent="0" marL="0">
              <a:buNone/>
            </a:pPr>
            <a:r>
              <a:rPr lang="en-US" sz="1200" dirty="0">
                <a:solidFill>
                  <a:schemeClr val="tx1"/>
                </a:solidFill>
              </a:rPr>
              <a:t>Infer unlogged meals from CGM rises</a:t>
            </a:r>
            <a:endParaRPr lang="en-US" sz="1200" dirty="0"/>
          </a:p>
        </p:txBody>
      </p:sp>
      <p:sp>
        <p:nvSpPr>
          <p:cNvPr id="14" name="road circle 2"/>
          <p:cNvSpPr/>
          <p:nvPr/>
        </p:nvSpPr>
        <p:spPr>
          <a:xfrm>
            <a:off x="4800600" y="2871216"/>
            <a:ext cx="411480" cy="411480"/>
          </a:xfrm>
          <a:prstGeom prst="ellipse">
            <a:avLst/>
          </a:prstGeom>
          <a:solidFill>
            <a:srgbClr val="0F766E"/>
          </a:solidFill>
          <a:ln w="12700">
            <a:solidFill>
              <a:srgbClr val="0F766E"/>
            </a:solidFill>
            <a:prstDash val="solid"/>
          </a:ln>
        </p:spPr>
      </p:sp>
      <p:sp>
        <p:nvSpPr>
          <p:cNvPr id="15" name="road n 2"/>
          <p:cNvSpPr txBox="1"/>
          <p:nvPr/>
        </p:nvSpPr>
        <p:spPr>
          <a:xfrm>
            <a:off x="4800600" y="287121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road head 2"/>
          <p:cNvSpPr txBox="1"/>
          <p:nvPr/>
        </p:nvSpPr>
        <p:spPr>
          <a:xfrm>
            <a:off x="5349240" y="2843784"/>
            <a:ext cx="3337560" cy="274320"/>
          </a:xfrm>
          <a:prstGeom prst="rect">
            <a:avLst/>
          </a:prstGeom>
          <a:noFill/>
          <a:ln/>
        </p:spPr>
        <p:txBody>
          <a:bodyPr wrap="square" lIns="0" tIns="0" rIns="0" bIns="0" rtlCol="0" anchor="ctr"/>
          <a:lstStyle/>
          <a:p>
            <a:pPr indent="0" marL="0">
              <a:buNone/>
            </a:pPr>
            <a:r>
              <a:rPr lang="en-US" sz="1500" b="1" dirty="0">
                <a:solidFill>
                  <a:schemeClr val="tx2"/>
                </a:solidFill>
              </a:rPr>
              <a:t>Integrate</a:t>
            </a:r>
            <a:endParaRPr lang="en-US" sz="1500" dirty="0"/>
          </a:p>
        </p:txBody>
      </p:sp>
      <p:sp>
        <p:nvSpPr>
          <p:cNvPr id="17" name="road body 2"/>
          <p:cNvSpPr txBox="1"/>
          <p:nvPr/>
        </p:nvSpPr>
        <p:spPr>
          <a:xfrm>
            <a:off x="5349240" y="3127248"/>
            <a:ext cx="3337560" cy="365760"/>
          </a:xfrm>
          <a:prstGeom prst="rect">
            <a:avLst/>
          </a:prstGeom>
          <a:noFill/>
          <a:ln/>
        </p:spPr>
        <p:txBody>
          <a:bodyPr wrap="square" lIns="0" tIns="0" rIns="0" bIns="0" rtlCol="0" anchor="ctr"/>
          <a:lstStyle/>
          <a:p>
            <a:pPr indent="0" marL="0">
              <a:buNone/>
            </a:pPr>
            <a:r>
              <a:rPr lang="en-US" sz="1200" dirty="0">
                <a:solidFill>
                  <a:schemeClr val="tx1"/>
                </a:solidFill>
              </a:rPr>
              <a:t>ABDM / FHIR EHR pull with consent</a:t>
            </a:r>
            <a:endParaRPr lang="en-US" sz="1200" dirty="0"/>
          </a:p>
        </p:txBody>
      </p:sp>
      <p:sp>
        <p:nvSpPr>
          <p:cNvPr id="18" name="road circle 3"/>
          <p:cNvSpPr/>
          <p:nvPr/>
        </p:nvSpPr>
        <p:spPr>
          <a:xfrm>
            <a:off x="4800600" y="3712464"/>
            <a:ext cx="411480" cy="411480"/>
          </a:xfrm>
          <a:prstGeom prst="ellipse">
            <a:avLst/>
          </a:prstGeom>
          <a:solidFill>
            <a:srgbClr val="0F766E"/>
          </a:solidFill>
          <a:ln w="12700">
            <a:solidFill>
              <a:srgbClr val="0F766E"/>
            </a:solidFill>
            <a:prstDash val="solid"/>
          </a:ln>
        </p:spPr>
      </p:sp>
      <p:sp>
        <p:nvSpPr>
          <p:cNvPr id="19" name="road n 3"/>
          <p:cNvSpPr txBox="1"/>
          <p:nvPr/>
        </p:nvSpPr>
        <p:spPr>
          <a:xfrm>
            <a:off x="4800600" y="37124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road head 3"/>
          <p:cNvSpPr txBox="1"/>
          <p:nvPr/>
        </p:nvSpPr>
        <p:spPr>
          <a:xfrm>
            <a:off x="5349240" y="3685032"/>
            <a:ext cx="3337560" cy="274320"/>
          </a:xfrm>
          <a:prstGeom prst="rect">
            <a:avLst/>
          </a:prstGeom>
          <a:noFill/>
          <a:ln/>
        </p:spPr>
        <p:txBody>
          <a:bodyPr wrap="square" lIns="0" tIns="0" rIns="0" bIns="0" rtlCol="0" anchor="ctr"/>
          <a:lstStyle/>
          <a:p>
            <a:pPr indent="0" marL="0">
              <a:buNone/>
            </a:pPr>
            <a:r>
              <a:rPr lang="en-US" sz="1500" b="1" dirty="0">
                <a:solidFill>
                  <a:schemeClr val="tx2"/>
                </a:solidFill>
              </a:rPr>
              <a:t>Close the loop</a:t>
            </a:r>
            <a:endParaRPr lang="en-US" sz="1500" dirty="0"/>
          </a:p>
        </p:txBody>
      </p:sp>
      <p:sp>
        <p:nvSpPr>
          <p:cNvPr id="21" name="road body 3"/>
          <p:cNvSpPr txBox="1"/>
          <p:nvPr/>
        </p:nvSpPr>
        <p:spPr>
          <a:xfrm>
            <a:off x="5349240" y="3968496"/>
            <a:ext cx="3337560" cy="365760"/>
          </a:xfrm>
          <a:prstGeom prst="rect">
            <a:avLst/>
          </a:prstGeom>
          <a:noFill/>
          <a:ln/>
        </p:spPr>
        <p:txBody>
          <a:bodyPr wrap="square" lIns="0" tIns="0" rIns="0" bIns="0" rtlCol="0" anchor="ctr"/>
          <a:lstStyle/>
          <a:p>
            <a:pPr indent="0" marL="0">
              <a:buNone/>
            </a:pPr>
            <a:r>
              <a:rPr lang="en-US" sz="1200" dirty="0">
                <a:solidFill>
                  <a:schemeClr val="tx1"/>
                </a:solidFill>
              </a:rPr>
              <a:t>Patient nudges + measure spikes prevented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548640" y="2651760"/>
            <a:ext cx="8046720" cy="1280160"/>
          </a:xfrm>
          <a:prstGeom prst="rect">
            <a:avLst/>
          </a:prstGeom>
          <a:noFill/>
          <a:ln/>
        </p:spPr>
        <p:txBody>
          <a:bodyPr wrap="square" rtlCol="0" anchor="t"/>
          <a:lstStyle/>
          <a:p>
            <a:pPr indent="0" marL="0">
              <a:buNone/>
            </a:pPr>
            <a:r>
              <a:rPr lang="en-US" sz="1800" dirty="0">
                <a:solidFill>
                  <a:srgbClr val="CCFBF1"/>
                </a:solidFill>
              </a:rPr>
              <a:t>Team Mavericks · NIT Silchar</a:t>
            </a:r>
            <a:endParaRPr lang="en-US" sz="1800" dirty="0"/>
          </a:p>
          <a:p>
            <a:pPr indent="0" marL="0">
              <a:buNone/>
            </a:pPr>
            <a:r>
              <a:rPr lang="en-US" sz="1400" dirty="0">
                <a:solidFill>
                  <a:srgbClr val="99F6E4"/>
                </a:solidFill>
              </a:rPr>
              <a:t>Raushan Kumar (team leader) · Chaitanya Prasad · EIE, final year</a:t>
            </a:r>
            <a:endParaRPr lang="en-US" sz="1800" dirty="0"/>
          </a:p>
          <a:p>
            <a:pPr indent="0" marL="0">
              <a:buNone/>
            </a:pPr>
            <a:r>
              <a:rPr lang="en-US" sz="1400" dirty="0">
                <a:solidFill>
                  <a:srgbClr val="99F6E4"/>
                </a:solidFill>
              </a:rPr>
              <a:t>Code under the MIT License · synthetic data only</a:t>
            </a:r>
            <a:endParaRPr lang="en-US" sz="1800" dirty="0"/>
          </a:p>
        </p:txBody>
      </p:sp>
      <p:pic>
        <p:nvPicPr>
          <p:cNvPr id="4" name="logo" descr="preencoded.png">    </p:cNvPr>
          <p:cNvPicPr>
            <a:picLocks noChangeAspect="1"/>
          </p:cNvPicPr>
          <p:nvPr/>
        </p:nvPicPr>
        <p:blipFill>
          <a:blip r:embed="rId1"/>
          <a:stretch>
            <a:fillRect/>
          </a:stretch>
        </p:blipFill>
        <p:spPr>
          <a:xfrm>
            <a:off x="548640" y="548640"/>
            <a:ext cx="731520" cy="731520"/>
          </a:xfrm>
          <a:prstGeom prst="rect">
            <a:avLst/>
          </a:prstGeom>
        </p:spPr>
      </p:pic>
    </p:spTree>
  </p:cSld>
  <p:clrMapOvr>
    <a:masterClrMapping/>
  </p:clrMapOvr>
</p:sld>
</file>

<file path=ppt/theme/theme1.xml><?xml version="1.0" encoding="utf-8"?>
<a:theme xmlns:a="http://schemas.openxmlformats.org/drawingml/2006/main" name="GlucoTwin">
  <a:themeElements>
    <a:clrScheme name="GlucoTwin">
      <a:dk1>
        <a:srgbClr val="0F172A"/>
      </a:dk1>
      <a:lt1>
        <a:srgbClr val="FFFFFF"/>
      </a:lt1>
      <a:dk2>
        <a:srgbClr val="0B3B37"/>
      </a:dk2>
      <a:lt2>
        <a:srgbClr val="F1F5F4"/>
      </a:lt2>
      <a:accent1>
        <a:srgbClr val="0F766E"/>
      </a:accent1>
      <a:accent2>
        <a:srgbClr val="D97706"/>
      </a:accent2>
      <a:accent3>
        <a:srgbClr val="DC2626"/>
      </a:accent3>
      <a:accent4>
        <a:srgbClr val="4F46E5"/>
      </a:accent4>
      <a:accent5>
        <a:srgbClr val="14B8A6"/>
      </a:accent5>
      <a:accent6>
        <a:srgbClr val="64748B"/>
      </a:accent6>
      <a:hlink>
        <a:srgbClr val="0F766E"/>
      </a:hlink>
      <a:folHlink>
        <a:srgbClr val="4F46E5"/>
      </a:folHlink>
    </a:clrScheme>
    <a:fontScheme name="Gluco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Challenge 2026</dc:title>
  <dc:subject>PptxGenJS Presentation</dc:subject>
  <dc:creator>Team Mavericks, NIT Silchar</dc:creator>
  <cp:lastModifiedBy>Team Mavericks, NIT Silchar</cp:lastModifiedBy>
  <cp:revision>1</cp:revision>
  <dcterms:created xsi:type="dcterms:W3CDTF">2026-10-11T11:04:05Z</dcterms:created>
  <dcterms:modified xsi:type="dcterms:W3CDTF">2026-10-11T11:04:05Z</dcterms:modified>
</cp:coreProperties>
</file>